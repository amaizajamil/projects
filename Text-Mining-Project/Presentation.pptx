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10287000" cx="18288000"/>
  <p:notesSz cx="6858000" cy="9144000"/>
  <p:embeddedFontLst>
    <p:embeddedFont>
      <p:font typeface="Roboto ExtraBold"/>
      <p:bold r:id="rId24"/>
      <p:boldItalic r:id="rId25"/>
    </p:embeddedFont>
    <p:embeddedFont>
      <p:font typeface="Roboto"/>
      <p:regular r:id="rId26"/>
      <p:bold r:id="rId27"/>
      <p:italic r:id="rId28"/>
      <p:boldItalic r:id="rId29"/>
    </p:embeddedFont>
    <p:embeddedFont>
      <p:font typeface="Roboto Medium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4" roundtripDataSignature="AMtx7mjHEeRejaEWEImhpiuErB+w3dfH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obotoExtraBold-bold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regular.fntdata"/><Relationship Id="rId25" Type="http://schemas.openxmlformats.org/officeDocument/2006/relationships/font" Target="fonts/RobotoExtraBold-boldItalic.fntdata"/><Relationship Id="rId28" Type="http://schemas.openxmlformats.org/officeDocument/2006/relationships/font" Target="fonts/Roboto-italic.fntdata"/><Relationship Id="rId27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edium-bold.fntdata"/><Relationship Id="rId30" Type="http://schemas.openxmlformats.org/officeDocument/2006/relationships/font" Target="fonts/RobotoMedium-regular.fntdata"/><Relationship Id="rId11" Type="http://schemas.openxmlformats.org/officeDocument/2006/relationships/slide" Target="slides/slide6.xml"/><Relationship Id="rId33" Type="http://schemas.openxmlformats.org/officeDocument/2006/relationships/font" Target="fonts/RobotoMedium-boldItalic.fntdata"/><Relationship Id="rId10" Type="http://schemas.openxmlformats.org/officeDocument/2006/relationships/slide" Target="slides/slide5.xml"/><Relationship Id="rId32" Type="http://schemas.openxmlformats.org/officeDocument/2006/relationships/font" Target="fonts/RobotoMedium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customschemas.google.com/relationships/presentationmetadata" Target="meta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6ca4ba4c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3b6ca4ba4c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77B6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1722301" y="3028153"/>
            <a:ext cx="14843398" cy="2599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01" u="none" cap="none" strike="noStrike">
                <a:solidFill>
                  <a:srgbClr val="F1F1EE"/>
                </a:solidFill>
                <a:latin typeface="Roboto"/>
                <a:ea typeface="Roboto"/>
                <a:cs typeface="Roboto"/>
                <a:sym typeface="Roboto"/>
              </a:rPr>
              <a:t>Clustering-based feature augmentation for fine-grained question classification on the TREC dataset </a:t>
            </a:r>
            <a:endParaRPr/>
          </a:p>
        </p:txBody>
      </p:sp>
      <p:sp>
        <p:nvSpPr>
          <p:cNvPr id="85" name="Google Shape;85;p1"/>
          <p:cNvSpPr txBox="1"/>
          <p:nvPr/>
        </p:nvSpPr>
        <p:spPr>
          <a:xfrm>
            <a:off x="1722301" y="7281545"/>
            <a:ext cx="5913783" cy="1976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F1F1EE"/>
                </a:solidFill>
                <a:latin typeface="Arial"/>
                <a:ea typeface="Arial"/>
                <a:cs typeface="Arial"/>
                <a:sym typeface="Arial"/>
              </a:rPr>
              <a:t>Presented by:</a:t>
            </a:r>
            <a:endParaRPr/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F1F1EE"/>
                </a:solidFill>
                <a:latin typeface="Arial"/>
                <a:ea typeface="Arial"/>
                <a:cs typeface="Arial"/>
                <a:sym typeface="Arial"/>
              </a:rPr>
              <a:t>Giorgio Basilice, 886186</a:t>
            </a:r>
            <a:endParaRPr/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F1F1EE"/>
                </a:solidFill>
                <a:latin typeface="Arial"/>
                <a:ea typeface="Arial"/>
                <a:cs typeface="Arial"/>
                <a:sym typeface="Arial"/>
              </a:rPr>
              <a:t>Hadis Forghani, 920040 </a:t>
            </a:r>
            <a:endParaRPr/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F1F1EE"/>
                </a:solidFill>
                <a:latin typeface="Arial"/>
                <a:ea typeface="Arial"/>
                <a:cs typeface="Arial"/>
                <a:sym typeface="Arial"/>
              </a:rPr>
              <a:t>Amaiza Jamil, 885861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EE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/>
          <p:nvPr/>
        </p:nvSpPr>
        <p:spPr>
          <a:xfrm>
            <a:off x="17070651" y="0"/>
            <a:ext cx="1217349" cy="10287000"/>
          </a:xfrm>
          <a:custGeom>
            <a:rect b="b" l="l" r="r" t="t"/>
            <a:pathLst>
              <a:path extrusionOk="0" h="3479800" w="411795">
                <a:moveTo>
                  <a:pt x="0" y="0"/>
                </a:moveTo>
                <a:lnTo>
                  <a:pt x="411795" y="0"/>
                </a:lnTo>
                <a:lnTo>
                  <a:pt x="411795" y="3479800"/>
                </a:lnTo>
                <a:lnTo>
                  <a:pt x="0" y="3479800"/>
                </a:lnTo>
                <a:close/>
              </a:path>
            </a:pathLst>
          </a:custGeom>
          <a:solidFill>
            <a:srgbClr val="0077B6"/>
          </a:solidFill>
          <a:ln>
            <a:noFill/>
          </a:ln>
        </p:spPr>
      </p:sp>
      <p:sp>
        <p:nvSpPr>
          <p:cNvPr id="91" name="Google Shape;91;p2"/>
          <p:cNvSpPr txBox="1"/>
          <p:nvPr/>
        </p:nvSpPr>
        <p:spPr>
          <a:xfrm>
            <a:off x="1028700" y="866775"/>
            <a:ext cx="48492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000" u="none" cap="none" strike="noStrike">
                <a:solidFill>
                  <a:srgbClr val="0077B6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Overview</a:t>
            </a:r>
            <a:endParaRPr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92" name="Google Shape;92;p2"/>
          <p:cNvSpPr txBox="1"/>
          <p:nvPr/>
        </p:nvSpPr>
        <p:spPr>
          <a:xfrm>
            <a:off x="1028700" y="3049379"/>
            <a:ext cx="14709416" cy="522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 this project explores whether unsupervised clustering techniques can be exploited to extract latent semantic structure from the data and use it as auxiliary features to improve fine-grained question classification.</a:t>
            </a:r>
            <a:endParaRPr/>
          </a:p>
          <a:p>
            <a:pPr indent="0" lvl="0" marL="0" marR="0" rtl="0" algn="just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99" u="none" cap="none" strike="noStrike">
              <a:solidFill>
                <a:srgbClr val="0077B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The main objectives:</a:t>
            </a:r>
            <a:endParaRPr/>
          </a:p>
          <a:p>
            <a:pPr indent="-302260" lvl="1" marL="604519" marR="0" rtl="0" algn="just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Apply clustering techniques on semantic sentence embeddings.</a:t>
            </a:r>
            <a:endParaRPr/>
          </a:p>
          <a:p>
            <a:pPr indent="-302260" lvl="1" marL="604519" marR="0" rtl="0" algn="just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Analyze the semantic coherence of the resulting clusters. </a:t>
            </a:r>
            <a:endParaRPr/>
          </a:p>
          <a:p>
            <a:pPr indent="-302260" lvl="1" marL="604519" marR="0" rtl="0" algn="just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Derive cluster-based features.</a:t>
            </a:r>
            <a:endParaRPr/>
          </a:p>
          <a:p>
            <a:pPr indent="-302260" lvl="1" marL="604519" marR="0" rtl="0" algn="just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Evaluate their impact on downstream fine-grained classification performance. </a:t>
            </a:r>
            <a:endParaRPr/>
          </a:p>
          <a:p>
            <a:pPr indent="0" lvl="0" marL="0" marR="0" rtl="0" algn="just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99" u="none" cap="none" strike="noStrike">
              <a:solidFill>
                <a:srgbClr val="0077B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" name="Google Shape;93;p2"/>
          <p:cNvSpPr txBox="1"/>
          <p:nvPr/>
        </p:nvSpPr>
        <p:spPr>
          <a:xfrm>
            <a:off x="17292522" y="4864735"/>
            <a:ext cx="773608" cy="4908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F1F1EE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EE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/>
          <p:nvPr/>
        </p:nvSpPr>
        <p:spPr>
          <a:xfrm>
            <a:off x="17070651" y="0"/>
            <a:ext cx="1217349" cy="10287000"/>
          </a:xfrm>
          <a:custGeom>
            <a:rect b="b" l="l" r="r" t="t"/>
            <a:pathLst>
              <a:path extrusionOk="0" h="3479800" w="411795">
                <a:moveTo>
                  <a:pt x="0" y="0"/>
                </a:moveTo>
                <a:lnTo>
                  <a:pt x="411795" y="0"/>
                </a:lnTo>
                <a:lnTo>
                  <a:pt x="411795" y="3479800"/>
                </a:lnTo>
                <a:lnTo>
                  <a:pt x="0" y="3479800"/>
                </a:lnTo>
                <a:close/>
              </a:path>
            </a:pathLst>
          </a:custGeom>
          <a:solidFill>
            <a:srgbClr val="0077B6"/>
          </a:solidFill>
          <a:ln>
            <a:noFill/>
          </a:ln>
        </p:spPr>
      </p:sp>
      <p:sp>
        <p:nvSpPr>
          <p:cNvPr id="99" name="Google Shape;99;p3"/>
          <p:cNvSpPr txBox="1"/>
          <p:nvPr/>
        </p:nvSpPr>
        <p:spPr>
          <a:xfrm>
            <a:off x="1028700" y="866775"/>
            <a:ext cx="48492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000" u="none" cap="none" strike="noStrike">
                <a:solidFill>
                  <a:srgbClr val="0077B6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Dataset </a:t>
            </a:r>
            <a:endParaRPr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100" name="Google Shape;100;p3"/>
          <p:cNvSpPr txBox="1"/>
          <p:nvPr/>
        </p:nvSpPr>
        <p:spPr>
          <a:xfrm>
            <a:off x="17292522" y="4864735"/>
            <a:ext cx="773608" cy="4908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F1F1EE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01" name="Google Shape;101;p3"/>
          <p:cNvSpPr txBox="1"/>
          <p:nvPr/>
        </p:nvSpPr>
        <p:spPr>
          <a:xfrm>
            <a:off x="1028700" y="3511082"/>
            <a:ext cx="6326776" cy="613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77B6"/>
                </a:solidFill>
                <a:latin typeface="Arial"/>
                <a:ea typeface="Arial"/>
                <a:cs typeface="Arial"/>
                <a:sym typeface="Arial"/>
              </a:rPr>
              <a:t>Data structure </a:t>
            </a:r>
            <a:endParaRPr/>
          </a:p>
        </p:txBody>
      </p:sp>
      <p:sp>
        <p:nvSpPr>
          <p:cNvPr id="102" name="Google Shape;102;p3"/>
          <p:cNvSpPr txBox="1"/>
          <p:nvPr/>
        </p:nvSpPr>
        <p:spPr>
          <a:xfrm>
            <a:off x="1028700" y="4460293"/>
            <a:ext cx="6326776" cy="3131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Each instance consists of:</a:t>
            </a:r>
            <a:endParaRPr/>
          </a:p>
          <a:p>
            <a:pPr indent="-302260" lvl="1" marL="604519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a short natural language question (typically one sentence).</a:t>
            </a:r>
            <a:endParaRPr/>
          </a:p>
          <a:p>
            <a:pPr indent="-302260" lvl="1" marL="604519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a coarse-grained label.</a:t>
            </a:r>
            <a:endParaRPr/>
          </a:p>
          <a:p>
            <a:pPr indent="-302260" lvl="1" marL="604519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a fine-grained label. </a:t>
            </a:r>
            <a:endParaRPr/>
          </a:p>
          <a:p>
            <a:pPr indent="0" lvl="0" marL="0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99" u="none" cap="none" strike="noStrike">
              <a:solidFill>
                <a:srgbClr val="0077B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3"/>
          <p:cNvSpPr txBox="1"/>
          <p:nvPr/>
        </p:nvSpPr>
        <p:spPr>
          <a:xfrm>
            <a:off x="9144000" y="3511082"/>
            <a:ext cx="6326776" cy="613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77B6"/>
                </a:solidFill>
                <a:latin typeface="Arial"/>
                <a:ea typeface="Arial"/>
                <a:cs typeface="Arial"/>
                <a:sym typeface="Arial"/>
              </a:rPr>
              <a:t>Label hierarchy </a:t>
            </a:r>
            <a:endParaRPr/>
          </a:p>
        </p:txBody>
      </p:sp>
      <p:sp>
        <p:nvSpPr>
          <p:cNvPr id="104" name="Google Shape;104;p3"/>
          <p:cNvSpPr txBox="1"/>
          <p:nvPr/>
        </p:nvSpPr>
        <p:spPr>
          <a:xfrm>
            <a:off x="9144000" y="4460293"/>
            <a:ext cx="6326776" cy="4703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Coarse-grained labels (6 classes):</a:t>
            </a:r>
            <a:endParaRPr/>
          </a:p>
          <a:p>
            <a:pPr indent="-302260" lvl="1" marL="604519" marR="0" rtl="0" algn="just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ABBR, abbreviations and acronyms.</a:t>
            </a:r>
            <a:endParaRPr/>
          </a:p>
          <a:p>
            <a:pPr indent="-302260" lvl="1" marL="604519" marR="0" rtl="0" algn="just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DESC, definitions and descriptions.</a:t>
            </a:r>
            <a:endParaRPr/>
          </a:p>
          <a:p>
            <a:pPr indent="-302260" lvl="1" marL="604519" marR="0" rtl="0" algn="just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ENTY, entities.</a:t>
            </a:r>
            <a:endParaRPr/>
          </a:p>
          <a:p>
            <a:pPr indent="-302260" lvl="1" marL="604519" marR="0" rtl="0" algn="just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HUM, human-related questions.</a:t>
            </a:r>
            <a:endParaRPr/>
          </a:p>
          <a:p>
            <a:pPr indent="-302260" lvl="1" marL="604519" marR="0" rtl="0" algn="just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LOC, locations.</a:t>
            </a:r>
            <a:endParaRPr/>
          </a:p>
          <a:p>
            <a:pPr indent="-302260" lvl="1" marL="604519" marR="0" rtl="0" algn="just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NUM, numerical answers.</a:t>
            </a:r>
            <a:endParaRPr/>
          </a:p>
          <a:p>
            <a:pPr indent="0" lvl="0" marL="0" marR="0" rtl="0" algn="just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50 fine-grained labels.</a:t>
            </a:r>
            <a:endParaRPr/>
          </a:p>
          <a:p>
            <a:pPr indent="0" lvl="0" marL="0" marR="0" rtl="0" algn="just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799" u="none" cap="none" strike="noStrike">
              <a:solidFill>
                <a:srgbClr val="0077B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1028700" y="7372675"/>
            <a:ext cx="5019973" cy="1038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Training set: </a:t>
            </a:r>
            <a:r>
              <a:rPr b="0" i="0" lang="en-US" sz="29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5,440 questions</a:t>
            </a:r>
            <a:r>
              <a:rPr b="1" i="0" lang="en-US" sz="29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/>
          </a:p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Test set:</a:t>
            </a:r>
            <a:r>
              <a:rPr b="0" i="0" lang="en-US" sz="29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 500 questions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EE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b6ca4ba4c4_0_0"/>
          <p:cNvSpPr/>
          <p:nvPr/>
        </p:nvSpPr>
        <p:spPr>
          <a:xfrm>
            <a:off x="17070651" y="0"/>
            <a:ext cx="1216854" cy="10282809"/>
          </a:xfrm>
          <a:custGeom>
            <a:rect b="b" l="l" r="r" t="t"/>
            <a:pathLst>
              <a:path extrusionOk="0" h="3479800" w="411795">
                <a:moveTo>
                  <a:pt x="0" y="0"/>
                </a:moveTo>
                <a:lnTo>
                  <a:pt x="411795" y="0"/>
                </a:lnTo>
                <a:lnTo>
                  <a:pt x="411795" y="3479800"/>
                </a:lnTo>
                <a:lnTo>
                  <a:pt x="0" y="3479800"/>
                </a:lnTo>
                <a:close/>
              </a:path>
            </a:pathLst>
          </a:custGeom>
          <a:solidFill>
            <a:srgbClr val="0077B6"/>
          </a:solidFill>
          <a:ln>
            <a:noFill/>
          </a:ln>
        </p:spPr>
      </p:sp>
      <p:pic>
        <p:nvPicPr>
          <p:cNvPr id="111" name="Google Shape;111;g3b6ca4ba4c4_0_0" title="Screenshot (422).png"/>
          <p:cNvPicPr preferRelativeResize="0"/>
          <p:nvPr/>
        </p:nvPicPr>
        <p:blipFill rotWithShape="1">
          <a:blip r:embed="rId3">
            <a:alphaModFix/>
          </a:blip>
          <a:srcRect b="6942" l="11490" r="15918" t="14521"/>
          <a:stretch/>
        </p:blipFill>
        <p:spPr>
          <a:xfrm>
            <a:off x="642925" y="373800"/>
            <a:ext cx="8148850" cy="464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g3b6ca4ba4c4_0_0" title="Screenshot (42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33075" y="5355725"/>
            <a:ext cx="8591284" cy="421072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g3b6ca4ba4c4_0_0"/>
          <p:cNvSpPr txBox="1"/>
          <p:nvPr/>
        </p:nvSpPr>
        <p:spPr>
          <a:xfrm>
            <a:off x="9210450" y="463525"/>
            <a:ext cx="67284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 </a:t>
            </a:r>
            <a:r>
              <a:rPr lang="en-US" sz="2500">
                <a:solidFill>
                  <a:srgbClr val="0077B6"/>
                </a:solidFill>
                <a:latin typeface="Roboto Medium"/>
                <a:ea typeface="Roboto Medium"/>
                <a:cs typeface="Roboto Medium"/>
                <a:sym typeface="Roboto Medium"/>
              </a:rPr>
              <a:t>As expected, the vocabulary is dominated by question words and function words such as </a:t>
            </a:r>
            <a:r>
              <a:rPr i="1" lang="en-US" sz="2500">
                <a:solidFill>
                  <a:srgbClr val="0077B6"/>
                </a:solidFill>
                <a:latin typeface="Roboto Medium"/>
                <a:ea typeface="Roboto Medium"/>
                <a:cs typeface="Roboto Medium"/>
                <a:sym typeface="Roboto Medium"/>
              </a:rPr>
              <a:t>“what”, “who”, “where”, “how”</a:t>
            </a:r>
            <a:r>
              <a:rPr lang="en-US" sz="2500">
                <a:solidFill>
                  <a:srgbClr val="0077B6"/>
                </a:solidFill>
                <a:latin typeface="Roboto Medium"/>
                <a:ea typeface="Roboto Medium"/>
                <a:cs typeface="Roboto Medium"/>
                <a:sym typeface="Roboto Medium"/>
              </a:rPr>
              <a:t>. This confirms that the dataset is strongly question-oriented, and these tokens are likely to carry important signals for classification (e.g., </a:t>
            </a:r>
            <a:r>
              <a:rPr i="1" lang="en-US" sz="2500">
                <a:solidFill>
                  <a:srgbClr val="0077B6"/>
                </a:solidFill>
                <a:latin typeface="Roboto Medium"/>
                <a:ea typeface="Roboto Medium"/>
                <a:cs typeface="Roboto Medium"/>
                <a:sym typeface="Roboto Medium"/>
              </a:rPr>
              <a:t>“who” → Human</a:t>
            </a:r>
            <a:r>
              <a:rPr lang="en-US" sz="2500">
                <a:solidFill>
                  <a:srgbClr val="0077B6"/>
                </a:solidFill>
                <a:latin typeface="Roboto Medium"/>
                <a:ea typeface="Roboto Medium"/>
                <a:cs typeface="Roboto Medium"/>
                <a:sym typeface="Roboto Medium"/>
              </a:rPr>
              <a:t>, </a:t>
            </a:r>
            <a:r>
              <a:rPr i="1" lang="en-US" sz="2500">
                <a:solidFill>
                  <a:srgbClr val="0077B6"/>
                </a:solidFill>
                <a:latin typeface="Roboto Medium"/>
                <a:ea typeface="Roboto Medium"/>
                <a:cs typeface="Roboto Medium"/>
                <a:sym typeface="Roboto Medium"/>
              </a:rPr>
              <a:t>“where” → Location</a:t>
            </a:r>
            <a:r>
              <a:rPr lang="en-US" sz="2500">
                <a:solidFill>
                  <a:srgbClr val="0077B6"/>
                </a:solidFill>
                <a:latin typeface="Roboto Medium"/>
                <a:ea typeface="Roboto Medium"/>
                <a:cs typeface="Roboto Medium"/>
                <a:sym typeface="Roboto Medium"/>
              </a:rPr>
              <a:t>).</a:t>
            </a:r>
            <a:endParaRPr sz="2500">
              <a:solidFill>
                <a:srgbClr val="0077B6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14" name="Google Shape;114;g3b6ca4ba4c4_0_0"/>
          <p:cNvSpPr txBox="1"/>
          <p:nvPr/>
        </p:nvSpPr>
        <p:spPr>
          <a:xfrm>
            <a:off x="672850" y="5607025"/>
            <a:ext cx="6848100" cy="37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0077B6"/>
                </a:solidFill>
                <a:latin typeface="Roboto Medium"/>
                <a:ea typeface="Roboto Medium"/>
                <a:cs typeface="Roboto Medium"/>
                <a:sym typeface="Roboto Medium"/>
              </a:rPr>
              <a:t>The distribution is clearly imbalanced, where a few fine labels appear very frequently while many others are much rarer. Train and test follow a similar overall pattern, but rare classes have fewer samples, which may make them harder for the model to learn and can reduce performance on minority categories.</a:t>
            </a:r>
            <a:endParaRPr sz="2500">
              <a:solidFill>
                <a:srgbClr val="0077B6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15" name="Google Shape;115;g3b6ca4ba4c4_0_0"/>
          <p:cNvSpPr txBox="1"/>
          <p:nvPr/>
        </p:nvSpPr>
        <p:spPr>
          <a:xfrm>
            <a:off x="17292522" y="4864735"/>
            <a:ext cx="7737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>
                <a:solidFill>
                  <a:srgbClr val="F1F1EE"/>
                </a:solidFill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EE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/>
          <p:nvPr/>
        </p:nvSpPr>
        <p:spPr>
          <a:xfrm>
            <a:off x="17070651" y="0"/>
            <a:ext cx="1217349" cy="10287000"/>
          </a:xfrm>
          <a:custGeom>
            <a:rect b="b" l="l" r="r" t="t"/>
            <a:pathLst>
              <a:path extrusionOk="0" h="3479800" w="411795">
                <a:moveTo>
                  <a:pt x="0" y="0"/>
                </a:moveTo>
                <a:lnTo>
                  <a:pt x="411795" y="0"/>
                </a:lnTo>
                <a:lnTo>
                  <a:pt x="411795" y="3479800"/>
                </a:lnTo>
                <a:lnTo>
                  <a:pt x="0" y="3479800"/>
                </a:lnTo>
                <a:close/>
              </a:path>
            </a:pathLst>
          </a:custGeom>
          <a:solidFill>
            <a:srgbClr val="0077B6"/>
          </a:solidFill>
          <a:ln>
            <a:noFill/>
          </a:ln>
        </p:spPr>
      </p:sp>
      <p:sp>
        <p:nvSpPr>
          <p:cNvPr id="121" name="Google Shape;121;p4"/>
          <p:cNvSpPr txBox="1"/>
          <p:nvPr/>
        </p:nvSpPr>
        <p:spPr>
          <a:xfrm>
            <a:off x="1028700" y="866775"/>
            <a:ext cx="89637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000" u="none" cap="none" strike="noStrike">
                <a:solidFill>
                  <a:srgbClr val="0077B6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Text preprocessing</a:t>
            </a:r>
            <a:endParaRPr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122" name="Google Shape;122;p4"/>
          <p:cNvSpPr txBox="1"/>
          <p:nvPr/>
        </p:nvSpPr>
        <p:spPr>
          <a:xfrm>
            <a:off x="17292522" y="4864735"/>
            <a:ext cx="7737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>
                <a:solidFill>
                  <a:srgbClr val="F1F1EE"/>
                </a:solidFill>
              </a:rPr>
              <a:t>4</a:t>
            </a:r>
            <a:endParaRPr/>
          </a:p>
        </p:txBody>
      </p:sp>
      <p:sp>
        <p:nvSpPr>
          <p:cNvPr id="123" name="Google Shape;123;p4"/>
          <p:cNvSpPr txBox="1"/>
          <p:nvPr/>
        </p:nvSpPr>
        <p:spPr>
          <a:xfrm>
            <a:off x="1028700" y="2634333"/>
            <a:ext cx="44817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600" u="none" cap="none" strike="noStrike">
                <a:solidFill>
                  <a:srgbClr val="0077B6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General preprocessing</a:t>
            </a:r>
            <a:endParaRPr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124" name="Google Shape;124;p4"/>
          <p:cNvSpPr txBox="1"/>
          <p:nvPr/>
        </p:nvSpPr>
        <p:spPr>
          <a:xfrm>
            <a:off x="1028700" y="3977640"/>
            <a:ext cx="4865240" cy="4703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For all representations, the following minimal normalizations are applied: </a:t>
            </a:r>
            <a:endParaRPr/>
          </a:p>
          <a:p>
            <a:pPr indent="-302260" lvl="1" marL="604519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whitespace normalization</a:t>
            </a:r>
            <a:endParaRPr/>
          </a:p>
          <a:p>
            <a:pPr indent="-302260" lvl="1" marL="604519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removal of leading and trailing spaces</a:t>
            </a:r>
            <a:endParaRPr/>
          </a:p>
          <a:p>
            <a:pPr indent="0" lvl="0" marL="0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Casing is preserved when required.</a:t>
            </a:r>
            <a:endParaRPr/>
          </a:p>
          <a:p>
            <a:pPr indent="0" lvl="0" marL="0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99" u="none" cap="none" strike="noStrike">
              <a:solidFill>
                <a:srgbClr val="0077B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" name="Google Shape;125;p4"/>
          <p:cNvSpPr txBox="1"/>
          <p:nvPr/>
        </p:nvSpPr>
        <p:spPr>
          <a:xfrm>
            <a:off x="6233115" y="2634333"/>
            <a:ext cx="3546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600" u="none" cap="none" strike="noStrike">
                <a:solidFill>
                  <a:srgbClr val="0077B6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Preprocessing for SBERT </a:t>
            </a:r>
            <a:endParaRPr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126" name="Google Shape;126;p4"/>
          <p:cNvSpPr txBox="1"/>
          <p:nvPr/>
        </p:nvSpPr>
        <p:spPr>
          <a:xfrm>
            <a:off x="6233115" y="3977640"/>
            <a:ext cx="4926000" cy="36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As Sentence-BERT uses raw text, only whitespace normalization is applied to preserve syntax, word order, and function words essential for semantic encoding.</a:t>
            </a:r>
            <a:endParaRPr/>
          </a:p>
        </p:txBody>
      </p:sp>
      <p:sp>
        <p:nvSpPr>
          <p:cNvPr id="127" name="Google Shape;127;p4"/>
          <p:cNvSpPr txBox="1"/>
          <p:nvPr/>
        </p:nvSpPr>
        <p:spPr>
          <a:xfrm>
            <a:off x="11924885" y="2634333"/>
            <a:ext cx="3546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600" u="none" cap="none" strike="noStrike">
                <a:solidFill>
                  <a:srgbClr val="0077B6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Preprocessing for TF-IDF</a:t>
            </a:r>
            <a:endParaRPr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128" name="Google Shape;128;p4"/>
          <p:cNvSpPr txBox="1"/>
          <p:nvPr/>
        </p:nvSpPr>
        <p:spPr>
          <a:xfrm>
            <a:off x="11036775" y="3987175"/>
            <a:ext cx="5895600" cy="64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85115" lvl="1" marL="58293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lowercasing</a:t>
            </a:r>
            <a:endParaRPr sz="1300"/>
          </a:p>
          <a:p>
            <a:pPr indent="-285115" lvl="1" marL="58293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whitespace normalization</a:t>
            </a:r>
            <a:endParaRPr sz="1300"/>
          </a:p>
          <a:p>
            <a:pPr indent="-285115" lvl="1" marL="58293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custom tokenization using Spacy</a:t>
            </a:r>
            <a:endParaRPr sz="1300"/>
          </a:p>
          <a:p>
            <a:pPr indent="-285115" lvl="1" marL="58293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extraction of unigrams and bigrams</a:t>
            </a:r>
            <a:endParaRPr sz="1300"/>
          </a:p>
          <a:p>
            <a:pPr indent="-285115" lvl="1" marL="58293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L2 normalization</a:t>
            </a:r>
            <a:endParaRPr sz="1300"/>
          </a:p>
          <a:p>
            <a:pPr indent="-285115" lvl="1" marL="58293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vocabulary limited to the top 10,000 terms</a:t>
            </a:r>
            <a:endParaRPr sz="1300"/>
          </a:p>
          <a:p>
            <a:pPr indent="-285115" lvl="1" marL="58293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Stop-words removal avoided to keep question words (e.g. What, Who, etc)</a:t>
            </a:r>
            <a:endParaRPr sz="13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rgbClr val="0077B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EE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"/>
          <p:cNvSpPr/>
          <p:nvPr/>
        </p:nvSpPr>
        <p:spPr>
          <a:xfrm>
            <a:off x="17070651" y="0"/>
            <a:ext cx="1217349" cy="10287000"/>
          </a:xfrm>
          <a:custGeom>
            <a:rect b="b" l="l" r="r" t="t"/>
            <a:pathLst>
              <a:path extrusionOk="0" h="3479800" w="411795">
                <a:moveTo>
                  <a:pt x="0" y="0"/>
                </a:moveTo>
                <a:lnTo>
                  <a:pt x="411795" y="0"/>
                </a:lnTo>
                <a:lnTo>
                  <a:pt x="411795" y="3479800"/>
                </a:lnTo>
                <a:lnTo>
                  <a:pt x="0" y="3479800"/>
                </a:lnTo>
                <a:close/>
              </a:path>
            </a:pathLst>
          </a:custGeom>
          <a:solidFill>
            <a:srgbClr val="0077B6"/>
          </a:solidFill>
          <a:ln>
            <a:noFill/>
          </a:ln>
        </p:spPr>
      </p:sp>
      <p:sp>
        <p:nvSpPr>
          <p:cNvPr id="134" name="Google Shape;134;p5"/>
          <p:cNvSpPr txBox="1"/>
          <p:nvPr/>
        </p:nvSpPr>
        <p:spPr>
          <a:xfrm>
            <a:off x="1028700" y="866775"/>
            <a:ext cx="90612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000" u="none" cap="none" strike="noStrike">
                <a:solidFill>
                  <a:srgbClr val="0077B6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Text representation</a:t>
            </a:r>
            <a:endParaRPr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135" name="Google Shape;135;p5"/>
          <p:cNvSpPr txBox="1"/>
          <p:nvPr/>
        </p:nvSpPr>
        <p:spPr>
          <a:xfrm>
            <a:off x="17292522" y="4864735"/>
            <a:ext cx="7737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>
                <a:solidFill>
                  <a:srgbClr val="F1F1EE"/>
                </a:solidFill>
              </a:rPr>
              <a:t>5</a:t>
            </a:r>
            <a:endParaRPr/>
          </a:p>
        </p:txBody>
      </p:sp>
      <p:sp>
        <p:nvSpPr>
          <p:cNvPr id="136" name="Google Shape;136;p5"/>
          <p:cNvSpPr txBox="1"/>
          <p:nvPr/>
        </p:nvSpPr>
        <p:spPr>
          <a:xfrm>
            <a:off x="1028700" y="3511082"/>
            <a:ext cx="6326776" cy="613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77B6"/>
                </a:solidFill>
                <a:latin typeface="Arial"/>
                <a:ea typeface="Arial"/>
                <a:cs typeface="Arial"/>
                <a:sym typeface="Arial"/>
              </a:rPr>
              <a:t>TF-IDF representation</a:t>
            </a:r>
            <a:endParaRPr/>
          </a:p>
        </p:txBody>
      </p:sp>
      <p:sp>
        <p:nvSpPr>
          <p:cNvPr id="137" name="Google Shape;137;p5"/>
          <p:cNvSpPr txBox="1"/>
          <p:nvPr/>
        </p:nvSpPr>
        <p:spPr>
          <a:xfrm>
            <a:off x="1028700" y="4460293"/>
            <a:ext cx="6326776" cy="3131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Effective for:</a:t>
            </a:r>
            <a:endParaRPr/>
          </a:p>
          <a:p>
            <a:pPr indent="-302260" lvl="1" marL="604519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question templates</a:t>
            </a:r>
            <a:endParaRPr/>
          </a:p>
          <a:p>
            <a:pPr indent="-302260" lvl="1" marL="604519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lexical clues associated with fine-grained labels</a:t>
            </a:r>
            <a:endParaRPr/>
          </a:p>
          <a:p>
            <a:pPr indent="-302260" lvl="1" marL="604519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high interpretability</a:t>
            </a:r>
            <a:endParaRPr/>
          </a:p>
          <a:p>
            <a:pPr indent="0" lvl="0" marL="0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99" u="none" cap="none" strike="noStrike">
              <a:solidFill>
                <a:srgbClr val="0077B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" name="Google Shape;138;p5"/>
          <p:cNvSpPr txBox="1"/>
          <p:nvPr/>
        </p:nvSpPr>
        <p:spPr>
          <a:xfrm>
            <a:off x="9144000" y="3511082"/>
            <a:ext cx="7308829" cy="613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77B6"/>
                </a:solidFill>
                <a:latin typeface="Arial"/>
                <a:ea typeface="Arial"/>
                <a:cs typeface="Arial"/>
                <a:sym typeface="Arial"/>
              </a:rPr>
              <a:t>Sentence embeddings (SBERT)</a:t>
            </a:r>
            <a:endParaRPr/>
          </a:p>
        </p:txBody>
      </p:sp>
      <p:sp>
        <p:nvSpPr>
          <p:cNvPr id="139" name="Google Shape;139;p5"/>
          <p:cNvSpPr txBox="1"/>
          <p:nvPr/>
        </p:nvSpPr>
        <p:spPr>
          <a:xfrm>
            <a:off x="9144000" y="4460293"/>
            <a:ext cx="6326776" cy="4179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 This model produces dense 768-dimensional vectors that are effective for:</a:t>
            </a:r>
            <a:endParaRPr/>
          </a:p>
          <a:p>
            <a:pPr indent="-302260" lvl="1" marL="604519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short texts</a:t>
            </a:r>
            <a:endParaRPr/>
          </a:p>
          <a:p>
            <a:pPr indent="-302260" lvl="1" marL="604519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semantic similarity</a:t>
            </a:r>
            <a:endParaRPr/>
          </a:p>
          <a:p>
            <a:pPr indent="-302260" lvl="1" marL="604519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distance-based clustering</a:t>
            </a:r>
            <a:endParaRPr/>
          </a:p>
          <a:p>
            <a:pPr indent="0" lvl="0" marL="0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99" u="none" cap="none" strike="noStrike">
              <a:solidFill>
                <a:srgbClr val="0077B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99" u="none" cap="none" strike="noStrike">
              <a:solidFill>
                <a:srgbClr val="0077B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EE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"/>
          <p:cNvSpPr/>
          <p:nvPr/>
        </p:nvSpPr>
        <p:spPr>
          <a:xfrm>
            <a:off x="17070651" y="0"/>
            <a:ext cx="1217349" cy="10287000"/>
          </a:xfrm>
          <a:custGeom>
            <a:rect b="b" l="l" r="r" t="t"/>
            <a:pathLst>
              <a:path extrusionOk="0" h="3479800" w="411795">
                <a:moveTo>
                  <a:pt x="0" y="0"/>
                </a:moveTo>
                <a:lnTo>
                  <a:pt x="411795" y="0"/>
                </a:lnTo>
                <a:lnTo>
                  <a:pt x="411795" y="3479800"/>
                </a:lnTo>
                <a:lnTo>
                  <a:pt x="0" y="3479800"/>
                </a:lnTo>
                <a:close/>
              </a:path>
            </a:pathLst>
          </a:custGeom>
          <a:solidFill>
            <a:srgbClr val="0077B6"/>
          </a:solidFill>
          <a:ln>
            <a:noFill/>
          </a:ln>
        </p:spPr>
      </p:sp>
      <p:sp>
        <p:nvSpPr>
          <p:cNvPr id="145" name="Google Shape;145;p6"/>
          <p:cNvSpPr txBox="1"/>
          <p:nvPr/>
        </p:nvSpPr>
        <p:spPr>
          <a:xfrm>
            <a:off x="1028700" y="866775"/>
            <a:ext cx="89637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000" u="none" cap="none" strike="noStrike">
                <a:solidFill>
                  <a:srgbClr val="0077B6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Clustering</a:t>
            </a:r>
            <a:endParaRPr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146" name="Google Shape;146;p6"/>
          <p:cNvSpPr txBox="1"/>
          <p:nvPr/>
        </p:nvSpPr>
        <p:spPr>
          <a:xfrm>
            <a:off x="17292522" y="4864735"/>
            <a:ext cx="7737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>
                <a:solidFill>
                  <a:srgbClr val="F1F1EE"/>
                </a:solidFill>
              </a:rPr>
              <a:t>6</a:t>
            </a:r>
            <a:endParaRPr/>
          </a:p>
        </p:txBody>
      </p:sp>
      <p:sp>
        <p:nvSpPr>
          <p:cNvPr id="147" name="Google Shape;147;p6"/>
          <p:cNvSpPr txBox="1"/>
          <p:nvPr/>
        </p:nvSpPr>
        <p:spPr>
          <a:xfrm>
            <a:off x="1028700" y="2360966"/>
            <a:ext cx="4481790" cy="613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77B6"/>
                </a:solidFill>
                <a:latin typeface="Arial"/>
                <a:ea typeface="Arial"/>
                <a:cs typeface="Arial"/>
                <a:sym typeface="Arial"/>
              </a:rPr>
              <a:t>Purpose</a:t>
            </a:r>
            <a:endParaRPr/>
          </a:p>
        </p:txBody>
      </p:sp>
      <p:sp>
        <p:nvSpPr>
          <p:cNvPr id="148" name="Google Shape;148;p6"/>
          <p:cNvSpPr txBox="1"/>
          <p:nvPr/>
        </p:nvSpPr>
        <p:spPr>
          <a:xfrm>
            <a:off x="1026157" y="3060101"/>
            <a:ext cx="4865240" cy="4179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2260" lvl="1" marL="604519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capture latent semantic groupings of questions.</a:t>
            </a:r>
            <a:endParaRPr/>
          </a:p>
          <a:p>
            <a:pPr indent="-302260" lvl="1" marL="604519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generate high-level auxiliary features.</a:t>
            </a:r>
            <a:endParaRPr/>
          </a:p>
          <a:p>
            <a:pPr indent="-302260" lvl="1" marL="604519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improve downstream fine-grained classification performance. </a:t>
            </a:r>
            <a:endParaRPr/>
          </a:p>
          <a:p>
            <a:pPr indent="0" lvl="0" marL="0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99" u="none" cap="none" strike="noStrike">
              <a:solidFill>
                <a:srgbClr val="0077B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" name="Google Shape;149;p6"/>
          <p:cNvSpPr txBox="1"/>
          <p:nvPr/>
        </p:nvSpPr>
        <p:spPr>
          <a:xfrm>
            <a:off x="5891397" y="2360966"/>
            <a:ext cx="4627383" cy="1251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77B6"/>
                </a:solidFill>
                <a:latin typeface="Arial"/>
                <a:ea typeface="Arial"/>
                <a:cs typeface="Arial"/>
                <a:sym typeface="Arial"/>
              </a:rPr>
              <a:t>Avoiding data leakage</a:t>
            </a:r>
            <a:endParaRPr/>
          </a:p>
        </p:txBody>
      </p:sp>
      <p:sp>
        <p:nvSpPr>
          <p:cNvPr id="150" name="Google Shape;150;p6"/>
          <p:cNvSpPr txBox="1"/>
          <p:nvPr/>
        </p:nvSpPr>
        <p:spPr>
          <a:xfrm>
            <a:off x="5891397" y="3812578"/>
            <a:ext cx="4926000" cy="70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To prevent data leakage: </a:t>
            </a:r>
            <a:endParaRPr sz="1300"/>
          </a:p>
          <a:p>
            <a:pPr indent="-285115" lvl="1" marL="58293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Clustering is performed exclusively on the training set.</a:t>
            </a:r>
            <a:endParaRPr sz="1300"/>
          </a:p>
          <a:p>
            <a:pPr indent="-285115" lvl="1" marL="58293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cluster centroids are saved.</a:t>
            </a:r>
            <a:endParaRPr sz="1300"/>
          </a:p>
          <a:p>
            <a:pPr indent="-285115" lvl="1" marL="58293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test instances are assigned to the nearest training centroids.</a:t>
            </a:r>
            <a:endParaRPr sz="13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This ensures that no test information influences feature construction.</a:t>
            </a:r>
            <a:endParaRPr sz="13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rgbClr val="0077B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" name="Google Shape;151;p6"/>
          <p:cNvSpPr txBox="1"/>
          <p:nvPr/>
        </p:nvSpPr>
        <p:spPr>
          <a:xfrm>
            <a:off x="11109330" y="2360966"/>
            <a:ext cx="3545891" cy="613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77B6"/>
                </a:solidFill>
                <a:latin typeface="Arial"/>
                <a:ea typeface="Arial"/>
                <a:cs typeface="Arial"/>
                <a:sym typeface="Arial"/>
              </a:rPr>
              <a:t>Algorithm</a:t>
            </a:r>
            <a:endParaRPr/>
          </a:p>
        </p:txBody>
      </p:sp>
      <p:sp>
        <p:nvSpPr>
          <p:cNvPr id="152" name="Google Shape;152;p6"/>
          <p:cNvSpPr txBox="1"/>
          <p:nvPr/>
        </p:nvSpPr>
        <p:spPr>
          <a:xfrm>
            <a:off x="11109330" y="3069626"/>
            <a:ext cx="5662205" cy="63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The chosen algorithm is K-means, motivated by the following reasons: </a:t>
            </a:r>
            <a:endParaRPr/>
          </a:p>
          <a:p>
            <a:pPr indent="-259080" lvl="1" marL="518161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compatibility with dense embeddings</a:t>
            </a:r>
            <a:endParaRPr/>
          </a:p>
          <a:p>
            <a:pPr indent="-259080" lvl="1" marL="518161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computational efficiency</a:t>
            </a:r>
            <a:endParaRPr/>
          </a:p>
          <a:p>
            <a:pPr indent="-259080" lvl="1" marL="518161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availability of centroids for feature derivation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The number of clusters K is selected in the range [30, 70] using: </a:t>
            </a:r>
            <a:endParaRPr/>
          </a:p>
          <a:p>
            <a:pPr indent="-259080" lvl="1" marL="518161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silhouette score (intrinsic evaluation)</a:t>
            </a:r>
            <a:endParaRPr/>
          </a:p>
          <a:p>
            <a:pPr indent="-259080" lvl="1" marL="518161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cluster purity with respect to coarse labels</a:t>
            </a:r>
            <a:endParaRPr/>
          </a:p>
          <a:p>
            <a:pPr indent="-259080" lvl="1" marL="518161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downstream classification performance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77B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EE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"/>
          <p:cNvSpPr/>
          <p:nvPr/>
        </p:nvSpPr>
        <p:spPr>
          <a:xfrm>
            <a:off x="17070651" y="0"/>
            <a:ext cx="1217349" cy="10287000"/>
          </a:xfrm>
          <a:custGeom>
            <a:rect b="b" l="l" r="r" t="t"/>
            <a:pathLst>
              <a:path extrusionOk="0" h="3479800" w="411795">
                <a:moveTo>
                  <a:pt x="0" y="0"/>
                </a:moveTo>
                <a:lnTo>
                  <a:pt x="411795" y="0"/>
                </a:lnTo>
                <a:lnTo>
                  <a:pt x="411795" y="3479800"/>
                </a:lnTo>
                <a:lnTo>
                  <a:pt x="0" y="3479800"/>
                </a:lnTo>
                <a:close/>
              </a:path>
            </a:pathLst>
          </a:custGeom>
          <a:solidFill>
            <a:srgbClr val="0077B6"/>
          </a:solidFill>
          <a:ln>
            <a:noFill/>
          </a:ln>
        </p:spPr>
      </p:sp>
      <p:sp>
        <p:nvSpPr>
          <p:cNvPr id="158" name="Google Shape;158;p7"/>
          <p:cNvSpPr txBox="1"/>
          <p:nvPr/>
        </p:nvSpPr>
        <p:spPr>
          <a:xfrm>
            <a:off x="1028700" y="1133475"/>
            <a:ext cx="156954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000" u="none" cap="none" strike="noStrike">
                <a:solidFill>
                  <a:srgbClr val="0077B6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Cluster-derived feature engineering</a:t>
            </a:r>
            <a:endParaRPr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159" name="Google Shape;159;p7"/>
          <p:cNvSpPr txBox="1"/>
          <p:nvPr/>
        </p:nvSpPr>
        <p:spPr>
          <a:xfrm>
            <a:off x="1028700" y="3856845"/>
            <a:ext cx="14709416" cy="522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 Two types of cluster-based features are extracted:</a:t>
            </a:r>
            <a:endParaRPr/>
          </a:p>
          <a:p>
            <a:pPr indent="-302260" lvl="1" marL="604519" marR="0" rtl="0" algn="just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Roboto"/>
              <a:buAutoNum type="arabicPeriod"/>
            </a:pPr>
            <a:r>
              <a:rPr b="1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Hard assignment features</a:t>
            </a:r>
            <a:endParaRPr/>
          </a:p>
          <a:p>
            <a:pPr indent="-302260" lvl="1" marL="604519" marR="0" rtl="0" algn="just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cluster ID </a:t>
            </a:r>
            <a:endParaRPr/>
          </a:p>
          <a:p>
            <a:pPr indent="-302260" lvl="1" marL="604519" marR="0" rtl="0" algn="just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one-hot encoding </a:t>
            </a:r>
            <a:endParaRPr/>
          </a:p>
          <a:p>
            <a:pPr indent="-302260" lvl="1" marL="604519" marR="0" rtl="0" algn="just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Roboto"/>
              <a:buAutoNum type="arabicPeriod"/>
            </a:pPr>
            <a:r>
              <a:rPr b="1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Soft assignment features</a:t>
            </a:r>
            <a:endParaRPr/>
          </a:p>
          <a:p>
            <a:pPr indent="-302260" lvl="1" marL="604519" marR="0" rtl="0" algn="just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distance to each centroid </a:t>
            </a:r>
            <a:endParaRPr/>
          </a:p>
          <a:p>
            <a:pPr indent="-302260" lvl="1" marL="604519" marR="0" rtl="0" algn="just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cosine similarity to each centroid</a:t>
            </a:r>
            <a:endParaRPr/>
          </a:p>
          <a:p>
            <a:pPr indent="-302260" lvl="1" marL="604519" marR="0" rtl="0" algn="just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distance to assigned centroid </a:t>
            </a:r>
            <a:endParaRPr/>
          </a:p>
          <a:p>
            <a:pPr indent="0" lvl="0" marL="0" marR="0" rtl="0" algn="just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99" u="none" cap="none" strike="noStrike">
              <a:solidFill>
                <a:srgbClr val="0077B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99" u="none" cap="none" strike="noStrike">
              <a:solidFill>
                <a:srgbClr val="0077B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" name="Google Shape;160;p7"/>
          <p:cNvSpPr txBox="1"/>
          <p:nvPr/>
        </p:nvSpPr>
        <p:spPr>
          <a:xfrm>
            <a:off x="17292522" y="4864735"/>
            <a:ext cx="7737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>
                <a:solidFill>
                  <a:srgbClr val="F1F1EE"/>
                </a:solidFill>
              </a:rPr>
              <a:t>7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EE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"/>
          <p:cNvSpPr/>
          <p:nvPr/>
        </p:nvSpPr>
        <p:spPr>
          <a:xfrm>
            <a:off x="17070651" y="0"/>
            <a:ext cx="1217349" cy="10287000"/>
          </a:xfrm>
          <a:custGeom>
            <a:rect b="b" l="l" r="r" t="t"/>
            <a:pathLst>
              <a:path extrusionOk="0" h="3479800" w="411795">
                <a:moveTo>
                  <a:pt x="0" y="0"/>
                </a:moveTo>
                <a:lnTo>
                  <a:pt x="411795" y="0"/>
                </a:lnTo>
                <a:lnTo>
                  <a:pt x="411795" y="3479800"/>
                </a:lnTo>
                <a:lnTo>
                  <a:pt x="0" y="3479800"/>
                </a:lnTo>
                <a:close/>
              </a:path>
            </a:pathLst>
          </a:custGeom>
          <a:solidFill>
            <a:srgbClr val="0077B6"/>
          </a:solidFill>
          <a:ln>
            <a:noFill/>
          </a:ln>
        </p:spPr>
      </p:sp>
      <p:sp>
        <p:nvSpPr>
          <p:cNvPr id="166" name="Google Shape;166;p8"/>
          <p:cNvSpPr txBox="1"/>
          <p:nvPr/>
        </p:nvSpPr>
        <p:spPr>
          <a:xfrm>
            <a:off x="1028700" y="866775"/>
            <a:ext cx="90612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000" u="none" cap="none" strike="noStrike">
                <a:solidFill>
                  <a:srgbClr val="0077B6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Classification </a:t>
            </a:r>
            <a:endParaRPr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167" name="Google Shape;167;p8"/>
          <p:cNvSpPr txBox="1"/>
          <p:nvPr/>
        </p:nvSpPr>
        <p:spPr>
          <a:xfrm>
            <a:off x="17292522" y="4864735"/>
            <a:ext cx="7737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>
                <a:solidFill>
                  <a:srgbClr val="F1F1EE"/>
                </a:solidFill>
              </a:rPr>
              <a:t>8</a:t>
            </a:r>
            <a:endParaRPr/>
          </a:p>
        </p:txBody>
      </p:sp>
      <p:sp>
        <p:nvSpPr>
          <p:cNvPr id="168" name="Google Shape;168;p8"/>
          <p:cNvSpPr txBox="1"/>
          <p:nvPr/>
        </p:nvSpPr>
        <p:spPr>
          <a:xfrm>
            <a:off x="1028700" y="3511082"/>
            <a:ext cx="6326776" cy="613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77B6"/>
                </a:solidFill>
                <a:latin typeface="Arial"/>
                <a:ea typeface="Arial"/>
                <a:cs typeface="Arial"/>
                <a:sym typeface="Arial"/>
              </a:rPr>
              <a:t>Classifier</a:t>
            </a:r>
            <a:endParaRPr/>
          </a:p>
        </p:txBody>
      </p:sp>
      <p:sp>
        <p:nvSpPr>
          <p:cNvPr id="169" name="Google Shape;169;p8"/>
          <p:cNvSpPr txBox="1"/>
          <p:nvPr/>
        </p:nvSpPr>
        <p:spPr>
          <a:xfrm>
            <a:off x="1028700" y="4460293"/>
            <a:ext cx="6326776" cy="1560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2260" lvl="1" marL="604519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Logistic Regression (multinomial)</a:t>
            </a:r>
            <a:endParaRPr/>
          </a:p>
          <a:p>
            <a:pPr indent="-302260" lvl="1" marL="604519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Linear SVM </a:t>
            </a:r>
            <a:endParaRPr/>
          </a:p>
          <a:p>
            <a:pPr indent="0" lvl="0" marL="0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99" u="none" cap="none" strike="noStrike">
              <a:solidFill>
                <a:srgbClr val="0077B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" name="Google Shape;170;p8"/>
          <p:cNvSpPr txBox="1"/>
          <p:nvPr/>
        </p:nvSpPr>
        <p:spPr>
          <a:xfrm>
            <a:off x="8362239" y="3511082"/>
            <a:ext cx="7308829" cy="613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77B6"/>
                </a:solidFill>
                <a:latin typeface="Arial"/>
                <a:ea typeface="Arial"/>
                <a:cs typeface="Arial"/>
                <a:sym typeface="Arial"/>
              </a:rPr>
              <a:t>Feature Combinations </a:t>
            </a:r>
            <a:endParaRPr/>
          </a:p>
        </p:txBody>
      </p:sp>
      <p:sp>
        <p:nvSpPr>
          <p:cNvPr id="171" name="Google Shape;171;p8"/>
          <p:cNvSpPr txBox="1"/>
          <p:nvPr/>
        </p:nvSpPr>
        <p:spPr>
          <a:xfrm>
            <a:off x="8580473" y="4479343"/>
            <a:ext cx="2573153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Configuration: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-TF-IDF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-TF-IDF + Clusters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-SBERT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-SBERT + Clusters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-TF-IDF + SBERT + Clusters</a:t>
            </a:r>
            <a:endParaRPr/>
          </a:p>
        </p:txBody>
      </p:sp>
      <p:sp>
        <p:nvSpPr>
          <p:cNvPr id="172" name="Google Shape;172;p8"/>
          <p:cNvSpPr txBox="1"/>
          <p:nvPr/>
        </p:nvSpPr>
        <p:spPr>
          <a:xfrm>
            <a:off x="11328213" y="4479343"/>
            <a:ext cx="2573153" cy="3764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Components: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-TF-IDF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-TF-IDF + Cluster features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-SBERT embeddings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-SBERT + Cluster features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-TF-IDF + SBERT + Clusters</a:t>
            </a:r>
            <a:endParaRPr/>
          </a:p>
        </p:txBody>
      </p:sp>
      <p:sp>
        <p:nvSpPr>
          <p:cNvPr id="173" name="Google Shape;173;p8"/>
          <p:cNvSpPr txBox="1"/>
          <p:nvPr/>
        </p:nvSpPr>
        <p:spPr>
          <a:xfrm>
            <a:off x="14199432" y="4479343"/>
            <a:ext cx="2573153" cy="2506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Dimentions: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~10,000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~10,000 + 2K+1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768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768 + 2K+1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~10,768 + 2K+1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EE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"/>
          <p:cNvSpPr/>
          <p:nvPr/>
        </p:nvSpPr>
        <p:spPr>
          <a:xfrm>
            <a:off x="17070651" y="0"/>
            <a:ext cx="1217349" cy="10287000"/>
          </a:xfrm>
          <a:custGeom>
            <a:rect b="b" l="l" r="r" t="t"/>
            <a:pathLst>
              <a:path extrusionOk="0" h="3479800" w="411795">
                <a:moveTo>
                  <a:pt x="0" y="0"/>
                </a:moveTo>
                <a:lnTo>
                  <a:pt x="411795" y="0"/>
                </a:lnTo>
                <a:lnTo>
                  <a:pt x="411795" y="3479800"/>
                </a:lnTo>
                <a:lnTo>
                  <a:pt x="0" y="3479800"/>
                </a:lnTo>
                <a:close/>
              </a:path>
            </a:pathLst>
          </a:custGeom>
          <a:solidFill>
            <a:srgbClr val="0077B6"/>
          </a:solidFill>
          <a:ln>
            <a:noFill/>
          </a:ln>
        </p:spPr>
      </p:sp>
      <p:sp>
        <p:nvSpPr>
          <p:cNvPr id="179" name="Google Shape;179;p9"/>
          <p:cNvSpPr txBox="1"/>
          <p:nvPr/>
        </p:nvSpPr>
        <p:spPr>
          <a:xfrm>
            <a:off x="1028700" y="866775"/>
            <a:ext cx="90612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000" u="none" cap="none" strike="noStrike">
                <a:solidFill>
                  <a:srgbClr val="0077B6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Experimental setup</a:t>
            </a:r>
            <a:endParaRPr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180" name="Google Shape;180;p9"/>
          <p:cNvSpPr txBox="1"/>
          <p:nvPr/>
        </p:nvSpPr>
        <p:spPr>
          <a:xfrm>
            <a:off x="17292522" y="4864735"/>
            <a:ext cx="7737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>
                <a:solidFill>
                  <a:srgbClr val="F1F1EE"/>
                </a:solidFill>
              </a:rPr>
              <a:t>9</a:t>
            </a:r>
            <a:endParaRPr/>
          </a:p>
        </p:txBody>
      </p:sp>
      <p:sp>
        <p:nvSpPr>
          <p:cNvPr id="181" name="Google Shape;181;p9"/>
          <p:cNvSpPr txBox="1"/>
          <p:nvPr/>
        </p:nvSpPr>
        <p:spPr>
          <a:xfrm>
            <a:off x="1028700" y="3511082"/>
            <a:ext cx="6326776" cy="613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77B6"/>
                </a:solidFill>
                <a:latin typeface="Arial"/>
                <a:ea typeface="Arial"/>
                <a:cs typeface="Arial"/>
                <a:sym typeface="Arial"/>
              </a:rPr>
              <a:t>Evaluation metrics </a:t>
            </a:r>
            <a:endParaRPr/>
          </a:p>
        </p:txBody>
      </p:sp>
      <p:sp>
        <p:nvSpPr>
          <p:cNvPr id="182" name="Google Shape;182;p9"/>
          <p:cNvSpPr txBox="1"/>
          <p:nvPr/>
        </p:nvSpPr>
        <p:spPr>
          <a:xfrm>
            <a:off x="1028700" y="4460293"/>
            <a:ext cx="6326776" cy="2084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2260" lvl="1" marL="604519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Accuracy</a:t>
            </a:r>
            <a:endParaRPr/>
          </a:p>
          <a:p>
            <a:pPr indent="-302260" lvl="1" marL="604519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F1-Micro</a:t>
            </a:r>
            <a:endParaRPr/>
          </a:p>
          <a:p>
            <a:pPr indent="-302260" lvl="1" marL="604519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F1-Macro</a:t>
            </a:r>
            <a:endParaRPr/>
          </a:p>
          <a:p>
            <a:pPr indent="-302260" lvl="1" marL="604519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F1-Weighted</a:t>
            </a:r>
            <a:endParaRPr/>
          </a:p>
        </p:txBody>
      </p:sp>
      <p:sp>
        <p:nvSpPr>
          <p:cNvPr id="183" name="Google Shape;183;p9"/>
          <p:cNvSpPr txBox="1"/>
          <p:nvPr/>
        </p:nvSpPr>
        <p:spPr>
          <a:xfrm>
            <a:off x="8362239" y="3511082"/>
            <a:ext cx="7308829" cy="613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77B6"/>
                </a:solidFill>
                <a:latin typeface="Arial"/>
                <a:ea typeface="Arial"/>
                <a:cs typeface="Arial"/>
                <a:sym typeface="Arial"/>
              </a:rPr>
              <a:t>Experimental protocol </a:t>
            </a:r>
            <a:endParaRPr/>
          </a:p>
        </p:txBody>
      </p:sp>
      <p:sp>
        <p:nvSpPr>
          <p:cNvPr id="184" name="Google Shape;184;p9"/>
          <p:cNvSpPr txBox="1"/>
          <p:nvPr/>
        </p:nvSpPr>
        <p:spPr>
          <a:xfrm>
            <a:off x="8493179" y="4460293"/>
            <a:ext cx="7439769" cy="522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2260" lvl="1" marL="604519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Roboto"/>
              <a:buAutoNum type="arabicPeriod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Preprocess, train and test sets separately.</a:t>
            </a:r>
            <a:endParaRPr/>
          </a:p>
          <a:p>
            <a:pPr indent="-302260" lvl="1" marL="604519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Roboto"/>
              <a:buAutoNum type="arabicPeriod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Generate SBERT embeddings for both sets.</a:t>
            </a:r>
            <a:endParaRPr/>
          </a:p>
          <a:p>
            <a:pPr indent="-302260" lvl="1" marL="604519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Roboto"/>
              <a:buAutoNum type="arabicPeriod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Generate TF-IDF vectors.</a:t>
            </a:r>
            <a:endParaRPr/>
          </a:p>
          <a:p>
            <a:pPr indent="-302260" lvl="1" marL="604519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Roboto"/>
              <a:buAutoNum type="arabicPeriod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Perform clustering on the train set only.</a:t>
            </a:r>
            <a:endParaRPr/>
          </a:p>
          <a:p>
            <a:pPr indent="-302260" lvl="1" marL="604519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Roboto"/>
              <a:buAutoNum type="arabicPeriod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Extract cluster features for both sets using training centroids.</a:t>
            </a:r>
            <a:endParaRPr/>
          </a:p>
          <a:p>
            <a:pPr indent="-302260" lvl="1" marL="604519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Roboto"/>
              <a:buAutoNum type="arabicPeriod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Train classifiers on the train set, evaluate on the test set. </a:t>
            </a:r>
            <a:endParaRPr/>
          </a:p>
          <a:p>
            <a:pPr indent="-302260" lvl="1" marL="604519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Roboto"/>
              <a:buAutoNum type="arabicPeriod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Compare all feature configurations. </a:t>
            </a:r>
            <a:endParaRPr/>
          </a:p>
          <a:p>
            <a:pPr indent="0" lvl="0" marL="0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99" u="none" cap="none" strike="noStrike">
              <a:solidFill>
                <a:srgbClr val="0077B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EE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"/>
          <p:cNvSpPr/>
          <p:nvPr/>
        </p:nvSpPr>
        <p:spPr>
          <a:xfrm>
            <a:off x="17070651" y="0"/>
            <a:ext cx="1217349" cy="10287000"/>
          </a:xfrm>
          <a:custGeom>
            <a:rect b="b" l="l" r="r" t="t"/>
            <a:pathLst>
              <a:path extrusionOk="0" h="3479800" w="411795">
                <a:moveTo>
                  <a:pt x="0" y="0"/>
                </a:moveTo>
                <a:lnTo>
                  <a:pt x="411795" y="0"/>
                </a:lnTo>
                <a:lnTo>
                  <a:pt x="411795" y="3479800"/>
                </a:lnTo>
                <a:lnTo>
                  <a:pt x="0" y="3479800"/>
                </a:lnTo>
                <a:close/>
              </a:path>
            </a:pathLst>
          </a:custGeom>
          <a:solidFill>
            <a:srgbClr val="0077B6"/>
          </a:solidFill>
          <a:ln>
            <a:noFill/>
          </a:ln>
        </p:spPr>
      </p:sp>
      <p:sp>
        <p:nvSpPr>
          <p:cNvPr id="190" name="Google Shape;190;p10"/>
          <p:cNvSpPr txBox="1"/>
          <p:nvPr/>
        </p:nvSpPr>
        <p:spPr>
          <a:xfrm>
            <a:off x="1028700" y="866775"/>
            <a:ext cx="90612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000" u="none" cap="none" strike="noStrike">
                <a:solidFill>
                  <a:srgbClr val="0077B6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Results</a:t>
            </a:r>
            <a:endParaRPr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191" name="Google Shape;191;p10"/>
          <p:cNvSpPr txBox="1"/>
          <p:nvPr/>
        </p:nvSpPr>
        <p:spPr>
          <a:xfrm>
            <a:off x="17292522" y="4864735"/>
            <a:ext cx="7737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>
                <a:solidFill>
                  <a:srgbClr val="F1F1EE"/>
                </a:solidFill>
              </a:rPr>
              <a:t>10</a:t>
            </a:r>
            <a:endParaRPr/>
          </a:p>
        </p:txBody>
      </p:sp>
      <p:sp>
        <p:nvSpPr>
          <p:cNvPr id="192" name="Google Shape;192;p10"/>
          <p:cNvSpPr txBox="1"/>
          <p:nvPr/>
        </p:nvSpPr>
        <p:spPr>
          <a:xfrm>
            <a:off x="1028700" y="2572676"/>
            <a:ext cx="6326776" cy="613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77B6"/>
                </a:solidFill>
                <a:latin typeface="Arial"/>
                <a:ea typeface="Arial"/>
                <a:cs typeface="Arial"/>
                <a:sym typeface="Arial"/>
              </a:rPr>
              <a:t>Clustering analysis</a:t>
            </a:r>
            <a:endParaRPr/>
          </a:p>
        </p:txBody>
      </p:sp>
      <p:sp>
        <p:nvSpPr>
          <p:cNvPr id="193" name="Google Shape;193;p10"/>
          <p:cNvSpPr txBox="1"/>
          <p:nvPr/>
        </p:nvSpPr>
        <p:spPr>
          <a:xfrm>
            <a:off x="1290581" y="3481361"/>
            <a:ext cx="14357700" cy="56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Optimal number of clusters: K = </a:t>
            </a:r>
            <a:r>
              <a:rPr lang="en-US" sz="2799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58</a:t>
            </a: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 (silhouette score 0.06</a:t>
            </a:r>
            <a:r>
              <a:rPr lang="en-US" sz="2799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51</a:t>
            </a: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/>
          </a:p>
          <a:p>
            <a:pPr indent="0" lvl="0" marL="0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Low silhouette is expected due to:</a:t>
            </a:r>
            <a:endParaRPr/>
          </a:p>
          <a:p>
            <a:pPr indent="-302260" lvl="1" marL="604519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high-dimensional SBERT space (768 dimensions)</a:t>
            </a:r>
            <a:endParaRPr/>
          </a:p>
          <a:p>
            <a:pPr indent="-302260" lvl="1" marL="604519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semantic overlap between question types</a:t>
            </a:r>
            <a:endParaRPr/>
          </a:p>
          <a:p>
            <a:pPr indent="0" lvl="0" marL="0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The goal is feature usefulness, not perfect cluster separation</a:t>
            </a:r>
            <a:endParaRPr/>
          </a:p>
          <a:p>
            <a:pPr indent="0" lvl="0" marL="0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Cluster purity w.r.t. coarse labels</a:t>
            </a:r>
            <a:r>
              <a:rPr lang="en-US" sz="2799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 is</a:t>
            </a: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 61.</a:t>
            </a:r>
            <a:r>
              <a:rPr lang="en-US" sz="2799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%,</a:t>
            </a:r>
            <a:r>
              <a:rPr lang="en-US" sz="2799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 while w.r.t. fine labels is 44.9%</a:t>
            </a:r>
            <a:endParaRPr/>
          </a:p>
          <a:p>
            <a:pPr indent="-302260" lvl="1" marL="604519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well above random baseline (16.7%)</a:t>
            </a:r>
            <a:endParaRPr/>
          </a:p>
          <a:p>
            <a:pPr indent="-302260" lvl="1" marL="604519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indicates meaningful but non-redundant semantic structure</a:t>
            </a:r>
            <a:endParaRPr/>
          </a:p>
          <a:p>
            <a:pPr indent="0" lvl="0" marL="0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99" u="none" cap="none" strike="noStrike">
              <a:solidFill>
                <a:srgbClr val="0077B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EE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1"/>
          <p:cNvSpPr/>
          <p:nvPr/>
        </p:nvSpPr>
        <p:spPr>
          <a:xfrm>
            <a:off x="17070651" y="0"/>
            <a:ext cx="1217349" cy="10287000"/>
          </a:xfrm>
          <a:custGeom>
            <a:rect b="b" l="l" r="r" t="t"/>
            <a:pathLst>
              <a:path extrusionOk="0" h="3479800" w="411795">
                <a:moveTo>
                  <a:pt x="0" y="0"/>
                </a:moveTo>
                <a:lnTo>
                  <a:pt x="411795" y="0"/>
                </a:lnTo>
                <a:lnTo>
                  <a:pt x="411795" y="3479800"/>
                </a:lnTo>
                <a:lnTo>
                  <a:pt x="0" y="3479800"/>
                </a:lnTo>
                <a:close/>
              </a:path>
            </a:pathLst>
          </a:custGeom>
          <a:solidFill>
            <a:srgbClr val="0077B6"/>
          </a:solidFill>
          <a:ln>
            <a:noFill/>
          </a:ln>
        </p:spPr>
      </p:sp>
      <p:sp>
        <p:nvSpPr>
          <p:cNvPr id="199" name="Google Shape;199;p11"/>
          <p:cNvSpPr txBox="1"/>
          <p:nvPr/>
        </p:nvSpPr>
        <p:spPr>
          <a:xfrm>
            <a:off x="1028700" y="866775"/>
            <a:ext cx="90612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000" u="none" cap="none" strike="noStrike">
                <a:solidFill>
                  <a:srgbClr val="0077B6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Results</a:t>
            </a:r>
            <a:endParaRPr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200" name="Google Shape;200;p11"/>
          <p:cNvSpPr txBox="1"/>
          <p:nvPr/>
        </p:nvSpPr>
        <p:spPr>
          <a:xfrm>
            <a:off x="17292522" y="4864735"/>
            <a:ext cx="7737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>
                <a:solidFill>
                  <a:srgbClr val="F1F1EE"/>
                </a:solidFill>
              </a:rPr>
              <a:t>11</a:t>
            </a:r>
            <a:endParaRPr/>
          </a:p>
        </p:txBody>
      </p:sp>
      <p:sp>
        <p:nvSpPr>
          <p:cNvPr id="201" name="Google Shape;201;p11"/>
          <p:cNvSpPr txBox="1"/>
          <p:nvPr/>
        </p:nvSpPr>
        <p:spPr>
          <a:xfrm>
            <a:off x="1028700" y="2572676"/>
            <a:ext cx="14357783" cy="613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77B6"/>
                </a:solidFill>
                <a:latin typeface="Arial"/>
                <a:ea typeface="Arial"/>
                <a:cs typeface="Arial"/>
                <a:sym typeface="Arial"/>
              </a:rPr>
              <a:t>Classification Results &amp; Clustering Impact</a:t>
            </a:r>
            <a:endParaRPr/>
          </a:p>
        </p:txBody>
      </p:sp>
      <p:sp>
        <p:nvSpPr>
          <p:cNvPr id="202" name="Google Shape;202;p11"/>
          <p:cNvSpPr txBox="1"/>
          <p:nvPr/>
        </p:nvSpPr>
        <p:spPr>
          <a:xfrm>
            <a:off x="1356051" y="3481361"/>
            <a:ext cx="14357783" cy="4179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Linear SVM consistently outperforms Logistic Regression</a:t>
            </a:r>
            <a:endParaRPr/>
          </a:p>
          <a:p>
            <a:pPr indent="-302260" lvl="1" marL="604519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accuracy gains of 10–17% across all configurations</a:t>
            </a:r>
            <a:endParaRPr/>
          </a:p>
          <a:p>
            <a:pPr indent="0" lvl="0" marL="0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Clustering features strongly improve TF-IDF models:</a:t>
            </a:r>
            <a:endParaRPr/>
          </a:p>
          <a:p>
            <a:pPr indent="-302260" lvl="1" marL="604519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+9.0% accuracy (LR), +5.0% accuracy (SVM)</a:t>
            </a:r>
            <a:endParaRPr/>
          </a:p>
          <a:p>
            <a:pPr indent="-302260" lvl="1" marL="604519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substantial gains in F1-Macro (minority classes)</a:t>
            </a:r>
            <a:endParaRPr/>
          </a:p>
          <a:p>
            <a:pPr indent="0" lvl="0" marL="0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Minimal improvement for SBERT-based models</a:t>
            </a:r>
            <a:endParaRPr/>
          </a:p>
          <a:p>
            <a:pPr indent="-302260" lvl="1" marL="604519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SBERT already captures much of the semantic structure</a:t>
            </a:r>
            <a:endParaRPr/>
          </a:p>
          <a:p>
            <a:pPr indent="0" lvl="0" marL="0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99" u="none" cap="none" strike="noStrike">
              <a:solidFill>
                <a:srgbClr val="0077B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EE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2"/>
          <p:cNvSpPr/>
          <p:nvPr/>
        </p:nvSpPr>
        <p:spPr>
          <a:xfrm>
            <a:off x="17070651" y="0"/>
            <a:ext cx="1217349" cy="10287000"/>
          </a:xfrm>
          <a:custGeom>
            <a:rect b="b" l="l" r="r" t="t"/>
            <a:pathLst>
              <a:path extrusionOk="0" h="3479800" w="411795">
                <a:moveTo>
                  <a:pt x="0" y="0"/>
                </a:moveTo>
                <a:lnTo>
                  <a:pt x="411795" y="0"/>
                </a:lnTo>
                <a:lnTo>
                  <a:pt x="411795" y="3479800"/>
                </a:lnTo>
                <a:lnTo>
                  <a:pt x="0" y="3479800"/>
                </a:lnTo>
                <a:close/>
              </a:path>
            </a:pathLst>
          </a:custGeom>
          <a:solidFill>
            <a:srgbClr val="0077B6"/>
          </a:solidFill>
          <a:ln>
            <a:noFill/>
          </a:ln>
        </p:spPr>
      </p:sp>
      <p:sp>
        <p:nvSpPr>
          <p:cNvPr id="208" name="Google Shape;208;p12"/>
          <p:cNvSpPr txBox="1"/>
          <p:nvPr/>
        </p:nvSpPr>
        <p:spPr>
          <a:xfrm>
            <a:off x="1028700" y="866775"/>
            <a:ext cx="132294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000" u="none" cap="none" strike="noStrike">
                <a:solidFill>
                  <a:srgbClr val="0077B6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Interpretation of results </a:t>
            </a:r>
            <a:endParaRPr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209" name="Google Shape;209;p12"/>
          <p:cNvSpPr txBox="1"/>
          <p:nvPr/>
        </p:nvSpPr>
        <p:spPr>
          <a:xfrm>
            <a:off x="17292522" y="4864735"/>
            <a:ext cx="7737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>
                <a:solidFill>
                  <a:srgbClr val="F1F1EE"/>
                </a:solidFill>
              </a:rPr>
              <a:t>12</a:t>
            </a:r>
            <a:endParaRPr/>
          </a:p>
        </p:txBody>
      </p:sp>
      <p:sp>
        <p:nvSpPr>
          <p:cNvPr id="210" name="Google Shape;210;p12"/>
          <p:cNvSpPr txBox="1"/>
          <p:nvPr/>
        </p:nvSpPr>
        <p:spPr>
          <a:xfrm>
            <a:off x="1028700" y="2572676"/>
            <a:ext cx="14357783" cy="613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77B6"/>
                </a:solidFill>
                <a:latin typeface="Arial"/>
                <a:ea typeface="Arial"/>
                <a:cs typeface="Arial"/>
                <a:sym typeface="Arial"/>
              </a:rPr>
              <a:t>Low Silhouette, High Utility </a:t>
            </a:r>
            <a:endParaRPr/>
          </a:p>
        </p:txBody>
      </p:sp>
      <p:sp>
        <p:nvSpPr>
          <p:cNvPr id="211" name="Google Shape;211;p12"/>
          <p:cNvSpPr txBox="1"/>
          <p:nvPr/>
        </p:nvSpPr>
        <p:spPr>
          <a:xfrm>
            <a:off x="1356051" y="3481361"/>
            <a:ext cx="14357700" cy="56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Low silhouette score (0.06</a:t>
            </a:r>
            <a:r>
              <a:rPr lang="en-US" sz="2799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51</a:t>
            </a: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) does not limit downstream usefulness</a:t>
            </a:r>
            <a:endParaRPr/>
          </a:p>
          <a:p>
            <a:pPr indent="0" lvl="0" marL="0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Clustering improves accuracy:</a:t>
            </a:r>
            <a:endParaRPr/>
          </a:p>
          <a:p>
            <a:pPr indent="-302260" lvl="1" marL="604519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+5.0% for TF-IDF + SVM</a:t>
            </a:r>
            <a:endParaRPr/>
          </a:p>
          <a:p>
            <a:pPr indent="-302260" lvl="1" marL="604519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+9.0% for TF-IDF + Logistic Regression</a:t>
            </a:r>
            <a:endParaRPr/>
          </a:p>
          <a:p>
            <a:pPr indent="0" lvl="0" marL="0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Cluster features act as soft semantic coordinates:</a:t>
            </a:r>
            <a:endParaRPr/>
          </a:p>
          <a:p>
            <a:pPr indent="-302260" lvl="1" marL="604519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position questions relative to </a:t>
            </a:r>
            <a:r>
              <a:rPr lang="en-US" sz="2799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58</a:t>
            </a: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 semantic prototypes</a:t>
            </a:r>
            <a:endParaRPr/>
          </a:p>
          <a:p>
            <a:pPr indent="-302260" lvl="1" marL="604519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encode uncertainty near cluster boundaries</a:t>
            </a:r>
            <a:endParaRPr/>
          </a:p>
          <a:p>
            <a:pPr indent="-302260" lvl="1" marL="604519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compress 768-dim SBERT space into 125 interpretable features</a:t>
            </a:r>
            <a:endParaRPr/>
          </a:p>
          <a:p>
            <a:pPr indent="0" lvl="0" marL="0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99" u="none" cap="none" strike="noStrike">
              <a:solidFill>
                <a:srgbClr val="0077B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EE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3"/>
          <p:cNvSpPr/>
          <p:nvPr/>
        </p:nvSpPr>
        <p:spPr>
          <a:xfrm>
            <a:off x="17070651" y="0"/>
            <a:ext cx="1217349" cy="10287000"/>
          </a:xfrm>
          <a:custGeom>
            <a:rect b="b" l="l" r="r" t="t"/>
            <a:pathLst>
              <a:path extrusionOk="0" h="3479800" w="411795">
                <a:moveTo>
                  <a:pt x="0" y="0"/>
                </a:moveTo>
                <a:lnTo>
                  <a:pt x="411795" y="0"/>
                </a:lnTo>
                <a:lnTo>
                  <a:pt x="411795" y="3479800"/>
                </a:lnTo>
                <a:lnTo>
                  <a:pt x="0" y="3479800"/>
                </a:lnTo>
                <a:close/>
              </a:path>
            </a:pathLst>
          </a:custGeom>
          <a:solidFill>
            <a:srgbClr val="0077B6"/>
          </a:solidFill>
          <a:ln>
            <a:noFill/>
          </a:ln>
        </p:spPr>
      </p:sp>
      <p:sp>
        <p:nvSpPr>
          <p:cNvPr id="217" name="Google Shape;217;p13"/>
          <p:cNvSpPr txBox="1"/>
          <p:nvPr/>
        </p:nvSpPr>
        <p:spPr>
          <a:xfrm>
            <a:off x="1028700" y="866775"/>
            <a:ext cx="132294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000" u="none" cap="none" strike="noStrike">
                <a:solidFill>
                  <a:srgbClr val="0077B6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Interpretation of results </a:t>
            </a:r>
            <a:endParaRPr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218" name="Google Shape;218;p13"/>
          <p:cNvSpPr txBox="1"/>
          <p:nvPr/>
        </p:nvSpPr>
        <p:spPr>
          <a:xfrm>
            <a:off x="17292522" y="4864735"/>
            <a:ext cx="7737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>
                <a:solidFill>
                  <a:srgbClr val="F1F1EE"/>
                </a:solidFill>
              </a:rPr>
              <a:t>13</a:t>
            </a:r>
            <a:endParaRPr/>
          </a:p>
        </p:txBody>
      </p:sp>
      <p:sp>
        <p:nvSpPr>
          <p:cNvPr id="219" name="Google Shape;219;p13"/>
          <p:cNvSpPr txBox="1"/>
          <p:nvPr/>
        </p:nvSpPr>
        <p:spPr>
          <a:xfrm>
            <a:off x="1028700" y="2572676"/>
            <a:ext cx="14357783" cy="613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77B6"/>
                </a:solidFill>
                <a:latin typeface="Arial"/>
                <a:ea typeface="Arial"/>
                <a:cs typeface="Arial"/>
                <a:sym typeface="Arial"/>
              </a:rPr>
              <a:t>Cluster Structure &amp; Classifier Behavior</a:t>
            </a:r>
            <a:endParaRPr/>
          </a:p>
        </p:txBody>
      </p:sp>
      <p:sp>
        <p:nvSpPr>
          <p:cNvPr id="220" name="Google Shape;220;p13"/>
          <p:cNvSpPr txBox="1"/>
          <p:nvPr/>
        </p:nvSpPr>
        <p:spPr>
          <a:xfrm>
            <a:off x="1356051" y="3481361"/>
            <a:ext cx="14357700" cy="56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Cluster purity: 61.</a:t>
            </a:r>
            <a:r>
              <a:rPr lang="en-US" sz="2799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% (moderate and desirable)</a:t>
            </a:r>
            <a:endParaRPr/>
          </a:p>
          <a:p>
            <a:pPr indent="-302260" lvl="1" marL="604519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avoids redundancy with coarse labels</a:t>
            </a:r>
            <a:endParaRPr/>
          </a:p>
          <a:p>
            <a:pPr indent="-302260" lvl="1" marL="604519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captures cross-category semantic patterns</a:t>
            </a:r>
            <a:endParaRPr/>
          </a:p>
          <a:p>
            <a:pPr indent="0" lvl="0" marL="0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Linear SVM consistently outperforms Logistic Regression due to:</a:t>
            </a:r>
            <a:endParaRPr/>
          </a:p>
          <a:p>
            <a:pPr indent="-302260" lvl="1" marL="604519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maximum-margin decision boundaries</a:t>
            </a:r>
            <a:endParaRPr/>
          </a:p>
          <a:p>
            <a:pPr indent="-302260" lvl="1" marL="604519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effectiveness in high-dimensional spaces</a:t>
            </a:r>
            <a:endParaRPr/>
          </a:p>
          <a:p>
            <a:pPr indent="-302260" lvl="1" marL="604519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robustness to class imbalance</a:t>
            </a:r>
            <a:endParaRPr/>
          </a:p>
          <a:p>
            <a:pPr indent="-302260" lvl="1" marL="604519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strong handling of sparse TF-IDF features</a:t>
            </a:r>
            <a:endParaRPr/>
          </a:p>
          <a:p>
            <a:pPr indent="0" lvl="0" marL="0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99" u="none" cap="none" strike="noStrike">
              <a:solidFill>
                <a:srgbClr val="0077B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EE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4"/>
          <p:cNvSpPr/>
          <p:nvPr/>
        </p:nvSpPr>
        <p:spPr>
          <a:xfrm>
            <a:off x="17070651" y="0"/>
            <a:ext cx="1217349" cy="10287000"/>
          </a:xfrm>
          <a:custGeom>
            <a:rect b="b" l="l" r="r" t="t"/>
            <a:pathLst>
              <a:path extrusionOk="0" h="3479800" w="411795">
                <a:moveTo>
                  <a:pt x="0" y="0"/>
                </a:moveTo>
                <a:lnTo>
                  <a:pt x="411795" y="0"/>
                </a:lnTo>
                <a:lnTo>
                  <a:pt x="411795" y="3479800"/>
                </a:lnTo>
                <a:lnTo>
                  <a:pt x="0" y="3479800"/>
                </a:lnTo>
                <a:close/>
              </a:path>
            </a:pathLst>
          </a:custGeom>
          <a:solidFill>
            <a:srgbClr val="0077B6"/>
          </a:solidFill>
          <a:ln>
            <a:noFill/>
          </a:ln>
        </p:spPr>
      </p:sp>
      <p:sp>
        <p:nvSpPr>
          <p:cNvPr id="226" name="Google Shape;226;p14"/>
          <p:cNvSpPr txBox="1"/>
          <p:nvPr/>
        </p:nvSpPr>
        <p:spPr>
          <a:xfrm>
            <a:off x="1028700" y="866775"/>
            <a:ext cx="132294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000" u="none" cap="none" strike="noStrike">
                <a:solidFill>
                  <a:srgbClr val="0077B6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Interpretation of results </a:t>
            </a:r>
            <a:endParaRPr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227" name="Google Shape;227;p14"/>
          <p:cNvSpPr txBox="1"/>
          <p:nvPr/>
        </p:nvSpPr>
        <p:spPr>
          <a:xfrm>
            <a:off x="17292522" y="4864735"/>
            <a:ext cx="7737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>
                <a:solidFill>
                  <a:srgbClr val="F1F1EE"/>
                </a:solidFill>
              </a:rPr>
              <a:t>14</a:t>
            </a:r>
            <a:endParaRPr/>
          </a:p>
        </p:txBody>
      </p:sp>
      <p:sp>
        <p:nvSpPr>
          <p:cNvPr id="228" name="Google Shape;228;p14"/>
          <p:cNvSpPr txBox="1"/>
          <p:nvPr/>
        </p:nvSpPr>
        <p:spPr>
          <a:xfrm>
            <a:off x="1028700" y="2572676"/>
            <a:ext cx="14357783" cy="613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77B6"/>
                </a:solidFill>
                <a:latin typeface="Arial"/>
                <a:ea typeface="Arial"/>
                <a:cs typeface="Arial"/>
                <a:sym typeface="Arial"/>
              </a:rPr>
              <a:t>Feature Impact &amp; Complementarity</a:t>
            </a:r>
            <a:endParaRPr/>
          </a:p>
        </p:txBody>
      </p:sp>
      <p:sp>
        <p:nvSpPr>
          <p:cNvPr id="229" name="Google Shape;229;p14"/>
          <p:cNvSpPr txBox="1"/>
          <p:nvPr/>
        </p:nvSpPr>
        <p:spPr>
          <a:xfrm>
            <a:off x="1356051" y="3481361"/>
            <a:ext cx="14357783" cy="5751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Clustering features strongly benefit TF-IDF models</a:t>
            </a:r>
            <a:endParaRPr/>
          </a:p>
          <a:p>
            <a:pPr indent="-302260" lvl="1" marL="604519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especially Logistic Regression (large F1-Macro gains)</a:t>
            </a:r>
            <a:endParaRPr/>
          </a:p>
          <a:p>
            <a:pPr indent="0" lvl="0" marL="0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Minimal impact on SBERT models</a:t>
            </a:r>
            <a:endParaRPr/>
          </a:p>
          <a:p>
            <a:pPr indent="-302260" lvl="1" marL="604519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SBERT already encodes rich semantic structure</a:t>
            </a:r>
            <a:endParaRPr/>
          </a:p>
          <a:p>
            <a:pPr indent="0" lvl="0" marL="0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Best results with TF-IDF + SBERT + Clustering:</a:t>
            </a:r>
            <a:endParaRPr/>
          </a:p>
          <a:p>
            <a:pPr indent="-302260" lvl="1" marL="604519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92.0% accuracy</a:t>
            </a:r>
            <a:endParaRPr/>
          </a:p>
          <a:p>
            <a:pPr indent="0" lvl="0" marL="0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Features are complementary:</a:t>
            </a:r>
            <a:endParaRPr/>
          </a:p>
          <a:p>
            <a:pPr indent="-302260" lvl="1" marL="604519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TF-IDF → lexical patterns</a:t>
            </a:r>
            <a:endParaRPr/>
          </a:p>
          <a:p>
            <a:pPr indent="-302260" lvl="1" marL="604519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SBERT → semantic meaning</a:t>
            </a:r>
            <a:endParaRPr/>
          </a:p>
          <a:p>
            <a:pPr indent="-302260" lvl="1" marL="604519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Clustering → latent structure &amp; prototype relationships</a:t>
            </a:r>
            <a:endParaRPr/>
          </a:p>
          <a:p>
            <a:pPr indent="0" lvl="0" marL="0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99" u="none" cap="none" strike="noStrike">
              <a:solidFill>
                <a:srgbClr val="0077B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EE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5"/>
          <p:cNvSpPr/>
          <p:nvPr/>
        </p:nvSpPr>
        <p:spPr>
          <a:xfrm>
            <a:off x="17070651" y="0"/>
            <a:ext cx="1217349" cy="10287000"/>
          </a:xfrm>
          <a:custGeom>
            <a:rect b="b" l="l" r="r" t="t"/>
            <a:pathLst>
              <a:path extrusionOk="0" h="3479800" w="411795">
                <a:moveTo>
                  <a:pt x="0" y="0"/>
                </a:moveTo>
                <a:lnTo>
                  <a:pt x="411795" y="0"/>
                </a:lnTo>
                <a:lnTo>
                  <a:pt x="411795" y="3479800"/>
                </a:lnTo>
                <a:lnTo>
                  <a:pt x="0" y="3479800"/>
                </a:lnTo>
                <a:close/>
              </a:path>
            </a:pathLst>
          </a:custGeom>
          <a:solidFill>
            <a:srgbClr val="0077B6"/>
          </a:solidFill>
          <a:ln>
            <a:noFill/>
          </a:ln>
        </p:spPr>
      </p:sp>
      <p:sp>
        <p:nvSpPr>
          <p:cNvPr id="235" name="Google Shape;235;p15"/>
          <p:cNvSpPr txBox="1"/>
          <p:nvPr/>
        </p:nvSpPr>
        <p:spPr>
          <a:xfrm>
            <a:off x="1028700" y="866775"/>
            <a:ext cx="132294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000" u="none" cap="none" strike="noStrike">
                <a:solidFill>
                  <a:srgbClr val="0077B6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Methodological validation</a:t>
            </a:r>
            <a:endParaRPr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236" name="Google Shape;236;p15"/>
          <p:cNvSpPr txBox="1"/>
          <p:nvPr/>
        </p:nvSpPr>
        <p:spPr>
          <a:xfrm>
            <a:off x="17292522" y="4864735"/>
            <a:ext cx="7737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>
                <a:solidFill>
                  <a:srgbClr val="F1F1EE"/>
                </a:solidFill>
              </a:rPr>
              <a:t>15</a:t>
            </a:r>
            <a:endParaRPr/>
          </a:p>
        </p:txBody>
      </p:sp>
      <p:sp>
        <p:nvSpPr>
          <p:cNvPr id="237" name="Google Shape;237;p15"/>
          <p:cNvSpPr txBox="1"/>
          <p:nvPr/>
        </p:nvSpPr>
        <p:spPr>
          <a:xfrm>
            <a:off x="1028700" y="3689032"/>
            <a:ext cx="14685000" cy="3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2260" lvl="1" marL="604519" marR="0" rtl="0" algn="l">
              <a:lnSpc>
                <a:spcPct val="180028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K selection: data-driven (silhouette), K=</a:t>
            </a:r>
            <a:r>
              <a:rPr lang="en-US" sz="2799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58</a:t>
            </a: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 &gt; 50 fine labels, avoids over-fragmentation</a:t>
            </a:r>
            <a:endParaRPr/>
          </a:p>
          <a:p>
            <a:pPr indent="-302260" lvl="1" marL="604519" marR="0" rtl="0" algn="l">
              <a:lnSpc>
                <a:spcPct val="180028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Preprocessing: minimal by design (preserve question words &amp; bigrams)</a:t>
            </a:r>
            <a:endParaRPr/>
          </a:p>
          <a:p>
            <a:pPr indent="-302260" lvl="1" marL="604519" marR="0" rtl="0" algn="l">
              <a:lnSpc>
                <a:spcPct val="180028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No data leakage: clustering fit on training set only</a:t>
            </a:r>
            <a:endParaRPr/>
          </a:p>
          <a:p>
            <a:pPr indent="-302260" lvl="1" marL="604519" marR="0" rtl="0" algn="l">
              <a:lnSpc>
                <a:spcPct val="180028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Soft assignments outperform hard cluster IDs by encoding uncertainty</a:t>
            </a:r>
            <a:endParaRPr/>
          </a:p>
          <a:p>
            <a:pPr indent="0" lvl="0" marL="0" marR="0" rtl="0" algn="l">
              <a:lnSpc>
                <a:spcPct val="1800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99" u="none" cap="none" strike="noStrike">
              <a:solidFill>
                <a:srgbClr val="0077B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EE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6"/>
          <p:cNvSpPr/>
          <p:nvPr/>
        </p:nvSpPr>
        <p:spPr>
          <a:xfrm>
            <a:off x="17070651" y="0"/>
            <a:ext cx="1217349" cy="10287000"/>
          </a:xfrm>
          <a:custGeom>
            <a:rect b="b" l="l" r="r" t="t"/>
            <a:pathLst>
              <a:path extrusionOk="0" h="3479800" w="411795">
                <a:moveTo>
                  <a:pt x="0" y="0"/>
                </a:moveTo>
                <a:lnTo>
                  <a:pt x="411795" y="0"/>
                </a:lnTo>
                <a:lnTo>
                  <a:pt x="411795" y="3479800"/>
                </a:lnTo>
                <a:lnTo>
                  <a:pt x="0" y="3479800"/>
                </a:lnTo>
                <a:close/>
              </a:path>
            </a:pathLst>
          </a:custGeom>
          <a:solidFill>
            <a:srgbClr val="0077B6"/>
          </a:solidFill>
          <a:ln>
            <a:noFill/>
          </a:ln>
        </p:spPr>
      </p:sp>
      <p:sp>
        <p:nvSpPr>
          <p:cNvPr id="243" name="Google Shape;243;p16"/>
          <p:cNvSpPr txBox="1"/>
          <p:nvPr/>
        </p:nvSpPr>
        <p:spPr>
          <a:xfrm>
            <a:off x="1028700" y="866775"/>
            <a:ext cx="132294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000" u="none" cap="none" strike="noStrike">
                <a:solidFill>
                  <a:srgbClr val="0077B6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Conclusion</a:t>
            </a:r>
            <a:endParaRPr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244" name="Google Shape;244;p16"/>
          <p:cNvSpPr txBox="1"/>
          <p:nvPr/>
        </p:nvSpPr>
        <p:spPr>
          <a:xfrm>
            <a:off x="17292522" y="4864735"/>
            <a:ext cx="7737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>
                <a:solidFill>
                  <a:srgbClr val="F1F1EE"/>
                </a:solidFill>
              </a:rPr>
              <a:t>16</a:t>
            </a:r>
            <a:endParaRPr/>
          </a:p>
        </p:txBody>
      </p:sp>
      <p:sp>
        <p:nvSpPr>
          <p:cNvPr id="245" name="Google Shape;245;p16"/>
          <p:cNvSpPr txBox="1"/>
          <p:nvPr/>
        </p:nvSpPr>
        <p:spPr>
          <a:xfrm>
            <a:off x="1028700" y="2292336"/>
            <a:ext cx="14685000" cy="86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0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This project successfully demonstrated that clustering-derived features can enhance question classification performance on the TREC dataset, even when clustering quality metrics suggest modest cluster separation.  </a:t>
            </a:r>
            <a:endParaRPr sz="1300"/>
          </a:p>
          <a:p>
            <a:pPr indent="0" lvl="0" marL="0" marR="0" rtl="0" algn="l">
              <a:lnSpc>
                <a:spcPct val="1800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Best model</a:t>
            </a:r>
            <a:r>
              <a:rPr b="0" i="0" lang="en-US" sz="26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: TF-IDF + SBERT + Clusters (Linear SVM)</a:t>
            </a:r>
            <a:endParaRPr sz="1300"/>
          </a:p>
          <a:p>
            <a:pPr indent="-295910" lvl="1" marL="604519" marR="0" rtl="0" algn="l">
              <a:lnSpc>
                <a:spcPct val="180028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92.0% accuracy, 86.</a:t>
            </a:r>
            <a:r>
              <a:rPr lang="en-US" sz="2699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r>
              <a:rPr b="0" i="0" lang="en-US" sz="26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% F1-Macro</a:t>
            </a:r>
            <a:endParaRPr sz="1300"/>
          </a:p>
          <a:p>
            <a:pPr indent="0" lvl="0" marL="0" marR="0" rtl="0" algn="l">
              <a:lnSpc>
                <a:spcPct val="1800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Clustering-for-features works</a:t>
            </a:r>
            <a:endParaRPr sz="1300"/>
          </a:p>
          <a:p>
            <a:pPr indent="-295910" lvl="1" marL="604519" marR="0" rtl="0" algn="l">
              <a:lnSpc>
                <a:spcPct val="180028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soft assignment features improve TF-IDF by +5–9% accuracy</a:t>
            </a:r>
            <a:endParaRPr sz="1300"/>
          </a:p>
          <a:p>
            <a:pPr indent="0" lvl="0" marL="0" marR="0" rtl="0" algn="l">
              <a:lnSpc>
                <a:spcPct val="1800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Feature complementarity matters</a:t>
            </a:r>
            <a:endParaRPr sz="1300"/>
          </a:p>
          <a:p>
            <a:pPr indent="-295910" lvl="1" marL="604519" marR="0" rtl="0" algn="l">
              <a:lnSpc>
                <a:spcPct val="180028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lexical (TF-IDF) + semantic (SBERT) + structural (clustering)</a:t>
            </a:r>
            <a:endParaRPr sz="1300"/>
          </a:p>
          <a:p>
            <a:pPr indent="0" lvl="0" marL="0" marR="0" rtl="0" algn="l">
              <a:lnSpc>
                <a:spcPct val="1800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Classifier choice is crucial</a:t>
            </a:r>
            <a:endParaRPr sz="1300"/>
          </a:p>
          <a:p>
            <a:pPr indent="-295910" lvl="1" marL="604519" marR="0" rtl="0" algn="l">
              <a:lnSpc>
                <a:spcPct val="180028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Linear SVM outperforms Logistic Regression by 10–17%</a:t>
            </a:r>
            <a:endParaRPr sz="1300"/>
          </a:p>
          <a:p>
            <a:pPr indent="0" lvl="0" marL="0" marR="0" rtl="0" algn="l">
              <a:lnSpc>
                <a:spcPct val="1800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99" u="none" cap="none" strike="noStrike">
              <a:solidFill>
                <a:srgbClr val="0077B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77B6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7"/>
          <p:cNvSpPr txBox="1"/>
          <p:nvPr/>
        </p:nvSpPr>
        <p:spPr>
          <a:xfrm>
            <a:off x="1722301" y="3559593"/>
            <a:ext cx="14843398" cy="2409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0" u="none" cap="none" strike="noStrike">
                <a:solidFill>
                  <a:srgbClr val="F1F1EE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