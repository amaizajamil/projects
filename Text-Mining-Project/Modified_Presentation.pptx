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Roboto ExtraBold"/>
      <p:bold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hDeapShB6S+qmDaRat1zLjxJln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89B698-BF1C-41A2-8F56-8573B5AB8264}">
  <a:tblStyle styleId="{9089B698-BF1C-41A2-8F56-8573B5AB82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Bold-boldItalic.fntdata"/><Relationship Id="rId25" Type="http://schemas.openxmlformats.org/officeDocument/2006/relationships/font" Target="fonts/RobotoExtraBold-bold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a4ba4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b6ca4ba4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92eb474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b92eb4749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7B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722301" y="3028153"/>
            <a:ext cx="14843398" cy="2599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1"/>
              <a:buFont typeface="Arial"/>
              <a:buNone/>
            </a:pPr>
            <a:r>
              <a:rPr b="0" i="0" lang="en-US" sz="6701" u="none" cap="none" strike="noStrike">
                <a:solidFill>
                  <a:srgbClr val="F1F1EE"/>
                </a:solidFill>
                <a:latin typeface="Roboto"/>
                <a:ea typeface="Roboto"/>
                <a:cs typeface="Roboto"/>
                <a:sym typeface="Roboto"/>
              </a:rPr>
              <a:t>Clustering-based feature augmentation for fine-grained question classification on the TREC dataset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722301" y="7281545"/>
            <a:ext cx="5913783" cy="1976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Giorgio Basilice, 886186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Hadis Forghani, 920040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Amaiza Jamil, 885861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91" name="Google Shape;91;p2"/>
          <p:cNvSpPr txBox="1"/>
          <p:nvPr/>
        </p:nvSpPr>
        <p:spPr>
          <a:xfrm>
            <a:off x="1028700" y="866775"/>
            <a:ext cx="484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Overview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028700" y="3049379"/>
            <a:ext cx="14709416" cy="522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this project explores whether unsupervised clustering techniques can be exploited to extract latent semantic structure from the data and use it as auxiliary features to improve fine-grained question classification.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The main objectives: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Apply clustering techniques on semantic sentence embeddings.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Analyze the semantic coherence of the resulting clusters.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Derive cluster-based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Evaluate their impact on downstream fine-grained classification performance.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7292522" y="4864735"/>
            <a:ext cx="773608" cy="49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99" name="Google Shape;99;p3"/>
          <p:cNvSpPr txBox="1"/>
          <p:nvPr/>
        </p:nvSpPr>
        <p:spPr>
          <a:xfrm>
            <a:off x="1028700" y="866775"/>
            <a:ext cx="484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Dataset 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7292522" y="4864735"/>
            <a:ext cx="773608" cy="49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1028700" y="3511082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Data structure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028700" y="4460293"/>
            <a:ext cx="6326776" cy="313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Each instance consists of: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 short natural language question (typically one sentence).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 coarse-grained label.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 fine-grained label.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9144000" y="3511082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Label hierarchy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9144000" y="4460293"/>
            <a:ext cx="6326776" cy="4703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Coarse-grained labels (6 classes):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ABBR, abbreviations and acronyms.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DESC, definitions and descriptions.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ENTY, entities.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HUM, human-related questions.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LOC, locations.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NUM, numerical answers.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50 fine-grained labels.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1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28700" y="7372675"/>
            <a:ext cx="5019973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1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Training set: </a:t>
            </a:r>
            <a:r>
              <a:rPr b="0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5,440 questions</a:t>
            </a:r>
            <a:r>
              <a:rPr b="1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1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Test set:</a:t>
            </a:r>
            <a:r>
              <a:rPr b="0" i="0" lang="en-US" sz="29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500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6ca4ba4c4_0_0"/>
          <p:cNvSpPr/>
          <p:nvPr/>
        </p:nvSpPr>
        <p:spPr>
          <a:xfrm>
            <a:off x="17070651" y="0"/>
            <a:ext cx="1216854" cy="10282809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pic>
        <p:nvPicPr>
          <p:cNvPr id="111" name="Google Shape;111;g3b6ca4ba4c4_0_0" title="Screenshot (422).png"/>
          <p:cNvPicPr preferRelativeResize="0"/>
          <p:nvPr/>
        </p:nvPicPr>
        <p:blipFill rotWithShape="1">
          <a:blip r:embed="rId3">
            <a:alphaModFix/>
          </a:blip>
          <a:srcRect b="6942" l="11490" r="15918" t="14521"/>
          <a:stretch/>
        </p:blipFill>
        <p:spPr>
          <a:xfrm>
            <a:off x="642925" y="373800"/>
            <a:ext cx="8148850" cy="464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6ca4ba4c4_0_0" title="Screenshot (42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3075" y="5355725"/>
            <a:ext cx="8591284" cy="42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b6ca4ba4c4_0_0"/>
          <p:cNvSpPr txBox="1"/>
          <p:nvPr/>
        </p:nvSpPr>
        <p:spPr>
          <a:xfrm>
            <a:off x="9210450" y="463525"/>
            <a:ext cx="6728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0" i="0" lang="en-US" sz="2500" u="none" cap="none" strike="noStrike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As expected, the vocabulary is dominated by question words and function words such as </a:t>
            </a:r>
            <a:r>
              <a:rPr b="0" i="1" lang="en-US" sz="2500" u="none" cap="none" strike="noStrike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“what”, “who”, “where”, “how”</a:t>
            </a:r>
            <a:r>
              <a:rPr b="0" i="0" lang="en-US" sz="2500" u="none" cap="none" strike="noStrike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. This confirms that the dataset is strongly question-oriented, and these tokens are likely to carry important signals for classification (e.g., </a:t>
            </a:r>
            <a:r>
              <a:rPr b="0" i="1" lang="en-US" sz="2500" u="none" cap="none" strike="noStrike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“who” → Human</a:t>
            </a:r>
            <a:r>
              <a:rPr b="0" i="0" lang="en-US" sz="2500" u="none" cap="none" strike="noStrike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, </a:t>
            </a:r>
            <a:r>
              <a:rPr b="0" i="1" lang="en-US" sz="2500" u="none" cap="none" strike="noStrike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“where” → Location</a:t>
            </a:r>
            <a:r>
              <a:rPr b="0" i="0" lang="en-US" sz="2500" u="none" cap="none" strike="noStrike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).</a:t>
            </a:r>
            <a:endParaRPr b="0" i="0" sz="2500" u="none" cap="none" strike="noStrike">
              <a:solidFill>
                <a:srgbClr val="0077B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4" name="Google Shape;114;g3b6ca4ba4c4_0_0"/>
          <p:cNvSpPr txBox="1"/>
          <p:nvPr/>
        </p:nvSpPr>
        <p:spPr>
          <a:xfrm>
            <a:off x="672850" y="5607025"/>
            <a:ext cx="6848100" cy="3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77B6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distribution is clearly imbalanced, where a few fine labels appear very frequently while many others are much rarer. Train and test follow a similar overall pattern, but rare classes have fewer samples, which may make them harder for the model to learn and can reduce performance on minority categories.</a:t>
            </a:r>
            <a:endParaRPr b="0" i="0" sz="2500" u="none" cap="none" strike="noStrike">
              <a:solidFill>
                <a:srgbClr val="0077B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5" name="Google Shape;115;g3b6ca4ba4c4_0_0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21" name="Google Shape;121;p4"/>
          <p:cNvSpPr txBox="1"/>
          <p:nvPr/>
        </p:nvSpPr>
        <p:spPr>
          <a:xfrm>
            <a:off x="1028700" y="866775"/>
            <a:ext cx="8963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Text preprocessing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028700" y="2634333"/>
            <a:ext cx="4481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General preprocessing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028700" y="3977640"/>
            <a:ext cx="4865100" cy="49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For all representations, the following minimal normalizations are applied: </a:t>
            </a:r>
            <a:r>
              <a:rPr lang="en-US" sz="28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lang="en-US" sz="28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whitespace normalization</a:t>
            </a:r>
            <a:r>
              <a:rPr lang="en-US" sz="28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940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lang="en-US" sz="28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removal of leading and trailing spaces</a:t>
            </a:r>
            <a:r>
              <a:rPr lang="en-US" sz="28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Casing is preserved when required.</a:t>
            </a:r>
            <a:r>
              <a:rPr lang="en-US" sz="28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233115" y="2634333"/>
            <a:ext cx="3546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Preprocessing for SBERT 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294000" y="3977650"/>
            <a:ext cx="4865100" cy="3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As Sentence-BERT uses raw text, only whitespace normalization is applied to preserve syntax, word order, and function words essential for semantic encoding.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1924885" y="2634333"/>
            <a:ext cx="3546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Preprocessing for TF-IDF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0918650" y="3987175"/>
            <a:ext cx="6013800" cy="52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30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lowercasing</a:t>
            </a:r>
            <a:r>
              <a:rPr lang="en-US" sz="30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0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30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whitespace normalization</a:t>
            </a:r>
            <a:r>
              <a:rPr lang="en-US" sz="30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0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30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custom tokenization using Spacy</a:t>
            </a:r>
            <a:r>
              <a:rPr lang="en-US" sz="30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0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30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extraction of unigrams and bigrams</a:t>
            </a:r>
            <a:r>
              <a:rPr lang="en-US" sz="30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0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30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Stop-words removal avoided to keep question words (e.g. What, Who, etc)</a:t>
            </a:r>
            <a:endParaRPr sz="3000">
              <a:solidFill>
                <a:srgbClr val="0077B6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sz="3000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34" name="Google Shape;134;p5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Text representation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1028663" y="2815582"/>
            <a:ext cx="632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TF-IDF representation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95550" y="3648168"/>
            <a:ext cx="6326700" cy="4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Specifications:</a:t>
            </a:r>
            <a:r>
              <a:rPr lang="en-US" sz="27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7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30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●"/>
            </a:pPr>
            <a:r>
              <a:rPr lang="en-US" sz="26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L2 normalization</a:t>
            </a:r>
            <a:r>
              <a:rPr lang="en-US" sz="26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6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30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●"/>
            </a:pPr>
            <a:r>
              <a:rPr lang="en-US" sz="26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vocabulary limited to the top 10,000 terms</a:t>
            </a:r>
            <a:r>
              <a:rPr lang="en-US" sz="26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6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Effective for:</a:t>
            </a:r>
            <a:r>
              <a:rPr lang="en-US" sz="27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7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30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●"/>
            </a:pPr>
            <a:r>
              <a:rPr lang="en-US" sz="27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question templates</a:t>
            </a:r>
            <a:r>
              <a:rPr lang="en-US" sz="27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7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30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●"/>
            </a:pPr>
            <a:r>
              <a:rPr lang="en-US" sz="27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lexical clues associated with fine-grained labels</a:t>
            </a:r>
            <a:r>
              <a:rPr lang="en-US" sz="275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75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730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●"/>
            </a:pPr>
            <a:r>
              <a:rPr lang="en-US" sz="275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high interpretability</a:t>
            </a:r>
            <a:endParaRPr sz="2750">
              <a:solidFill>
                <a:srgbClr val="0077B6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9144000" y="2785920"/>
            <a:ext cx="730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Sentence embeddings (SBERT)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9033063" y="3648168"/>
            <a:ext cx="6326700" cy="49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 This model produces dense 768-dimensional vectors that are effective for: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short texts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semantic similarity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distance-based clustering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45" name="Google Shape;145;p6"/>
          <p:cNvSpPr txBox="1"/>
          <p:nvPr/>
        </p:nvSpPr>
        <p:spPr>
          <a:xfrm>
            <a:off x="1028700" y="866775"/>
            <a:ext cx="8963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Clustering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028700" y="2360966"/>
            <a:ext cx="4481790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45407" y="3237076"/>
            <a:ext cx="4865100" cy="49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capture latent semantic groupings of questions.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generate high-level auxiliary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improve downstream fine-grained classification performance.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510500" y="2360975"/>
            <a:ext cx="486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Avoiding data leakage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5662335" y="3177778"/>
            <a:ext cx="49260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9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To prevent data leakage clustering is performed exclusively on the training set. This ensures that no test information influences feature construction.</a:t>
            </a:r>
            <a:endParaRPr b="0" i="0" sz="2900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1109330" y="2360966"/>
            <a:ext cx="3545891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1109330" y="3237076"/>
            <a:ext cx="5662200" cy="6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The chosen algorithm is K-means, motivated by the following reasons: </a:t>
            </a: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28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compatibility with dense embeddings</a:t>
            </a: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28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computational efficiency</a:t>
            </a: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28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availability of centroids for feature derivation</a:t>
            </a: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The number of clusters K is selected in the range [30, 70] using: </a:t>
            </a: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28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silhouette score (intrinsic evaluation)</a:t>
            </a:r>
            <a:r>
              <a:rPr lang="en-US" sz="28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28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28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downstream classification performance</a:t>
            </a:r>
            <a:endParaRPr sz="2800">
              <a:solidFill>
                <a:srgbClr val="0077B6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58" name="Google Shape;158;p7"/>
          <p:cNvSpPr txBox="1"/>
          <p:nvPr/>
        </p:nvSpPr>
        <p:spPr>
          <a:xfrm>
            <a:off x="1028700" y="1133475"/>
            <a:ext cx="156954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Cluster-derived feature engineering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1028700" y="3856845"/>
            <a:ext cx="14709300" cy="49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We extract the following </a:t>
            </a:r>
            <a:r>
              <a:rPr b="1" lang="en-US" sz="31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Soft assignment features </a:t>
            </a:r>
            <a:r>
              <a:rPr lang="en-US" sz="31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from the obtained clustering:</a:t>
            </a:r>
            <a:r>
              <a:rPr lang="en-US" sz="31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1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254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distance to each centroid </a:t>
            </a:r>
            <a:r>
              <a:rPr lang="en-US" sz="31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1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254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cosine similarity to each centroid</a:t>
            </a:r>
            <a:r>
              <a:rPr lang="en-US" sz="31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1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25450" lvl="0" marL="647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distance to assigned centroid </a:t>
            </a:r>
            <a:r>
              <a:rPr lang="en-US" sz="31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1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These measures allow us to encode the global structure of the questions, creating a richer and more discriminative representation, without using hard clustering feature which could have introduced some bias.</a:t>
            </a:r>
            <a:endParaRPr sz="3100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66" name="Google Shape;166;p8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Classification 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1028700" y="3511082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Classifier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446975" y="4460300"/>
            <a:ext cx="6908400" cy="3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•"/>
            </a:pPr>
            <a:r>
              <a:rPr lang="en-US" sz="30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Logistic Regression (multinomial)</a:t>
            </a:r>
            <a:r>
              <a:rPr lang="en-US" sz="30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0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•"/>
            </a:pPr>
            <a:r>
              <a:rPr lang="en-US" sz="30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Linear SVM </a:t>
            </a:r>
            <a:r>
              <a:rPr lang="en-US" sz="3000">
                <a:solidFill>
                  <a:schemeClr val="dk1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​</a:t>
            </a:r>
            <a:endParaRPr sz="3000">
              <a:solidFill>
                <a:schemeClr val="dk1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77B6"/>
                </a:solidFill>
                <a:highlight>
                  <a:srgbClr val="F5F5F5"/>
                </a:highlight>
                <a:latin typeface="Roboto"/>
                <a:ea typeface="Roboto"/>
                <a:cs typeface="Roboto"/>
                <a:sym typeface="Roboto"/>
              </a:rPr>
              <a:t>These models are well suited for high dimensional sparse data and do not require to much data</a:t>
            </a:r>
            <a:endParaRPr sz="3000">
              <a:solidFill>
                <a:srgbClr val="0077B6"/>
              </a:solidFill>
              <a:highlight>
                <a:srgbClr val="F5F5F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8362239" y="3511082"/>
            <a:ext cx="7308829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Feature Combinations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8"/>
          <p:cNvGraphicFramePr/>
          <p:nvPr/>
        </p:nvGraphicFramePr>
        <p:xfrm>
          <a:off x="7672150" y="446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{9089B698-BF1C-41A2-8F56-8573B5AB8264}</a:tableStyleId>
              </a:tblPr>
              <a:tblGrid>
                <a:gridCol w="4671075"/>
                <a:gridCol w="4050825"/>
              </a:tblGrid>
              <a:tr h="682150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500">
                          <a:solidFill>
                            <a:srgbClr val="FFFFFF"/>
                          </a:solidFill>
                        </a:rPr>
                        <a:t>Configuration​</a:t>
                      </a:r>
                      <a:endParaRPr b="1" sz="25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500">
                          <a:solidFill>
                            <a:srgbClr val="FFFFFF"/>
                          </a:solidFill>
                        </a:rPr>
                        <a:t>Dimension​</a:t>
                      </a:r>
                      <a:endParaRPr b="1" sz="25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682150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500"/>
                        <a:t>TF-IDF</a:t>
                      </a:r>
                      <a:r>
                        <a:rPr lang="en-US" sz="2500"/>
                        <a:t>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500"/>
                        <a:t>10000​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682150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500"/>
                        <a:t>TF-IDF + Clustering Features</a:t>
                      </a:r>
                      <a:r>
                        <a:rPr lang="en-US" sz="2500"/>
                        <a:t>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500"/>
                        <a:t>10000 + 139 (10139)​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682150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500"/>
                        <a:t>SBERT</a:t>
                      </a:r>
                      <a:r>
                        <a:rPr lang="en-US" sz="2500"/>
                        <a:t>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500"/>
                        <a:t>768​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682150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500"/>
                        <a:t>SBERT + Clustering Features</a:t>
                      </a:r>
                      <a:r>
                        <a:rPr lang="en-US" sz="2500"/>
                        <a:t>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500"/>
                        <a:t>768 + 139 (907)​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682150"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500"/>
                        <a:t>All Features</a:t>
                      </a:r>
                      <a:r>
                        <a:rPr lang="en-US" sz="2500"/>
                        <a:t>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89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500"/>
                        <a:t>10000 + 768 + 139 (10907)​</a:t>
                      </a:r>
                      <a:endParaRPr sz="25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77" name="Google Shape;177;p9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Experimental setup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1269325" y="2428645"/>
            <a:ext cx="632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Evaluation metrics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028700" y="3313118"/>
            <a:ext cx="6326700" cy="23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F1-Micro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F1-Macro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F1-Weighted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8493164" y="2458307"/>
            <a:ext cx="730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Experimental protocol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8493142" y="3428993"/>
            <a:ext cx="7439700" cy="6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Preprocess, train and test sets separately.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Generate SBERT embeddings for both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Generate TF-IDF vectors.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Perform clustering on the train set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Extract cluster features for both sets using training centroids.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Train classifiers on the train set, evaluate on the test set.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AutoNum type="arabicPeriod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Compare all feature configurations.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88" name="Google Shape;188;p10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028700" y="2572676"/>
            <a:ext cx="6326776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Clustering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290581" y="3481361"/>
            <a:ext cx="14357700" cy="5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Optimal number of clusters: K = 58 (silhouette score 0.0651)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Low silhouette is expected due 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high-dimensional SBERT space (768 dimensions)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semantic overlap between question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The goal is feature usefulness, not perfect cluster separation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purity w.r.t. coarse labels is 61.1%, while w.r.t. fine labels is 44.9%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well above random baseline (16.7%)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indicates meaningful but non-redundant semantic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97" name="Google Shape;197;p11"/>
          <p:cNvSpPr txBox="1"/>
          <p:nvPr/>
        </p:nvSpPr>
        <p:spPr>
          <a:xfrm>
            <a:off x="1028700" y="866775"/>
            <a:ext cx="906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1028700" y="2572676"/>
            <a:ext cx="14357783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Classification Results &amp; Clustering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1356051" y="3481361"/>
            <a:ext cx="14357783" cy="417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Linear SVM consistently outperforms Logistic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accuracy gains of 10–17% across all configurations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features strongly improve TF-IDF models: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+9.0% accuracy (LR), +5.0% accuracy (SVM)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substantial gains in F1-Macro (minority classes)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Minimal improvement for SBERT-based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SBERT already captures much of the semantic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06" name="Google Shape;206;p12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Interpretation of results 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1028700" y="2572676"/>
            <a:ext cx="14357783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Low Silhouette, High Utility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356051" y="3481361"/>
            <a:ext cx="14357700" cy="30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Low silhouette score (0.0651) does not limit downstream usefulness</a:t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features act as soft semantic coordinates: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position questions relative to 58 semantic prototypes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encode uncertainty near cluster boundaries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doesn’t need to produce well structured clusters to be useful. </a:t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15" name="Google Shape;215;p13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Interpretation of results 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1028700" y="2572676"/>
            <a:ext cx="14357783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Cluster Structure &amp; Classifier Behavior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1356051" y="3481361"/>
            <a:ext cx="14357700" cy="5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 purity: 61.1% (moderate and desirable)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avoids redundancy with coarse labels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captures cross-category semantic patterns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Linear SVM consistently outperforms Logistic Regression due 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maximum-margin decision boundaries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effectiveness in high-dimensional spaces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robustness to class imbalance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strong handling of sparse TF-IDF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24" name="Google Shape;224;p14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Interpretation of results 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1028700" y="2572676"/>
            <a:ext cx="14357783" cy="6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Feature Impact &amp; Complementarity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1398287" y="3481361"/>
            <a:ext cx="14357700" cy="6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features strongly benefit TF-IDF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especially Logistic Regression (large F1-Macro gains)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Minimal impact on SBERT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SBERT already encodes rich semantic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Best results with TF-IDF + SBERT + Clustering: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92.0%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Features are complementary: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TF-IDF → lexical patterns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SBERT → semantic meaning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 → latent structure &amp; prototype</a:t>
            </a: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-based positioning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92eb47498_0_3"/>
          <p:cNvSpPr/>
          <p:nvPr/>
        </p:nvSpPr>
        <p:spPr>
          <a:xfrm>
            <a:off x="17070651" y="0"/>
            <a:ext cx="1216854" cy="10282809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33" name="Google Shape;233;g3b92eb47498_0_3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Error analysis 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34" name="Google Shape;234;g3b92eb47498_0_3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799">
                <a:solidFill>
                  <a:srgbClr val="F1F1EE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b92eb47498_0_3"/>
          <p:cNvSpPr txBox="1"/>
          <p:nvPr/>
        </p:nvSpPr>
        <p:spPr>
          <a:xfrm>
            <a:off x="1028700" y="2572676"/>
            <a:ext cx="1435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077B6"/>
                </a:solidFill>
              </a:rPr>
              <a:t>Error </a:t>
            </a:r>
            <a:r>
              <a:rPr b="1" lang="en-US" sz="3600">
                <a:solidFill>
                  <a:srgbClr val="0077B6"/>
                </a:solidFill>
              </a:rPr>
              <a:t>pattern</a:t>
            </a:r>
            <a:r>
              <a:rPr b="1" lang="en-US" sz="3600">
                <a:solidFill>
                  <a:srgbClr val="0077B6"/>
                </a:solidFill>
              </a:rPr>
              <a:t> </a:t>
            </a:r>
            <a:r>
              <a:rPr b="1" i="0" lang="en-US" sz="3600" u="none" cap="none" strike="noStrike">
                <a:solidFill>
                  <a:srgbClr val="0077B6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1" lang="en-US" sz="3600">
                <a:solidFill>
                  <a:srgbClr val="0077B6"/>
                </a:solidFill>
              </a:rPr>
              <a:t>Question words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b92eb47498_0_3"/>
          <p:cNvSpPr txBox="1"/>
          <p:nvPr/>
        </p:nvSpPr>
        <p:spPr>
          <a:xfrm>
            <a:off x="1398287" y="3481361"/>
            <a:ext cx="14357700" cy="6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Overall: 461/500 correct (92.2 % accuracy and 39 errors)</a:t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Main finding: LOC → ENTY confusion </a:t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54/81 LOC questions (66.7%) misclassified as ENTY </a:t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Char char="•"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LOC recall: only 32.1% (despite 100% precision)</a:t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Char char="•"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ENTY:other acts as  “attractor” for ambiguous questions.</a:t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Question word impact: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“What” = 90.1% accuracy </a:t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2260" lvl="1" marL="604518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799"/>
              <a:buFont typeface="Roboto"/>
              <a:buChar char="•"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“When”, “Why”, “Who” = 97-100% accuracy </a:t>
            </a:r>
            <a:endParaRPr sz="2799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Addressing LOC/ENTY confusion coiuld improve accuracy.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E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/>
          <p:nvPr/>
        </p:nvSpPr>
        <p:spPr>
          <a:xfrm>
            <a:off x="17070651" y="0"/>
            <a:ext cx="1217349" cy="10287000"/>
          </a:xfrm>
          <a:custGeom>
            <a:rect b="b" l="l" r="r" t="t"/>
            <a:pathLst>
              <a:path extrusionOk="0" h="3479800" w="411795">
                <a:moveTo>
                  <a:pt x="0" y="0"/>
                </a:moveTo>
                <a:lnTo>
                  <a:pt x="411795" y="0"/>
                </a:lnTo>
                <a:lnTo>
                  <a:pt x="411795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242" name="Google Shape;242;p16"/>
          <p:cNvSpPr txBox="1"/>
          <p:nvPr/>
        </p:nvSpPr>
        <p:spPr>
          <a:xfrm>
            <a:off x="1028700" y="866775"/>
            <a:ext cx="13229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77B6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17292522" y="4864735"/>
            <a:ext cx="773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799">
                <a:solidFill>
                  <a:srgbClr val="F1F1EE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1028700" y="2292336"/>
            <a:ext cx="14685000" cy="86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This project successfully demonstrated that clustering-derived features can enhance question classification performance on the TREC dataset, even when clustering quality metrics suggest modest cluster separation. 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1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Best model</a:t>
            </a: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: TF-IDF + SBERT + Clusters (Linear SVM)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91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92.0% accuracy, 86.6% F1-Macro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Clustering-for-features works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91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soft assignment features improve TF-IDF by +5–9% accuracy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Feature complementarity matters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91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lexical (TF-IDF) + semantic (SBERT) + structural (clustering)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Classifier choice is crucial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910" lvl="1" marL="604519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77B6"/>
                </a:solidFill>
                <a:latin typeface="Roboto"/>
                <a:ea typeface="Roboto"/>
                <a:cs typeface="Roboto"/>
                <a:sym typeface="Roboto"/>
              </a:rPr>
              <a:t>Linear SVM outperforms Logistic Regression by 10–17%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0077B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7B6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/>
        </p:nvSpPr>
        <p:spPr>
          <a:xfrm>
            <a:off x="1722301" y="3559593"/>
            <a:ext cx="14843398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0"/>
              <a:buFont typeface="Arial"/>
              <a:buNone/>
            </a:pPr>
            <a:r>
              <a:rPr b="0" i="0" lang="en-US" sz="18000" u="none" cap="none" strike="noStrike">
                <a:solidFill>
                  <a:srgbClr val="F1F1EE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